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2af380e-89b4-8b86-02ab-989bd4c75bdf}">
          <p14:sldIdLst>
            <p14:sldId id="256"/>
          </p14:sldIdLst>
        </p14:section>
        <p14:section name="Problem" id="{4e1d2384-e800-1c9c-45f7-5082ec3942e0}">
          <p14:sldIdLst>
            <p14:sldId id="257"/>
            <p14:sldId id="258"/>
          </p14:sldIdLst>
        </p14:section>
        <p14:section name="Solution" id="{cbad982c-a048-b03c-2bb8-cc9a8367339b}">
          <p14:sldIdLst>
            <p14:sldId id="259"/>
          </p14:sldIdLst>
        </p14:section>
        <p14:section name="Demo" id="{2d05266c-21e1-3cb4-448b-47ccb98e41ac}">
          <p14:sldIdLst>
            <p14:sldId id="260"/>
            <p14:sldId id="261"/>
            <p14:sldId id="262"/>
          </p14:sldIdLst>
        </p14:section>
        <p14:section name="Innovation" id="{17192da0-b13b-ae10-286a-e19d67c337fa}">
          <p14:sldIdLst>
            <p14:sldId id="263"/>
            <p14:sldId id="264"/>
          </p14:sldIdLst>
        </p14:section>
        <p14:section name="Architecture" id="{d9118b6c-080a-5f3c-2261-99f852be95c1}">
          <p14:sldIdLst>
            <p14:sldId id="265"/>
          </p14:sldIdLst>
        </p14:section>
        <p14:section name="Research" id="{573c3fe6-98ae-9c4b-09d5-70056a6bc552}">
          <p14:sldIdLst>
            <p14:sldId id="266"/>
          </p14:sldIdLst>
        </p14:section>
        <p14:section name="Roadmap" id="{aa7097d9-4408-14df-cfc1-677ce716898b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4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940"/>
                </a:solidFill>
                <a:latin typeface="+mn-lt"/>
              </a:rPr>
              <a:t>Held-out Sen1Floods11 test, 82 chips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Water v1.0 (VV)</c:v>
                </c:pt>
              </c:strCache>
            </c:strRef>
          </c:tx>
          <c:spPr>
            <a:solidFill>
              <a:srgbClr val="9FB4D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Answers correct</c:v>
                  </c:pt>
                  <c:pt idx="1">
                    <c:v>Coverage at 0.60</c:v>
                  </c:pt>
                  <c:pt idx="2">
                    <c:v>Median IoU</c:v>
                  </c:pt>
                  <c:pt idx="3">
                    <c:v>Error when published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11</c:v>
                </c:pt>
                <c:pt idx="2">
                  <c:v>15</c:v>
                </c:pt>
                <c:pt idx="3">
                  <c:v>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Water v1.1 (VV + VH)</c:v>
                </c:pt>
              </c:strCache>
            </c:strRef>
          </c:tx>
          <c:spPr>
            <a:solidFill>
              <a:srgbClr val="2F6FB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Answers correct</c:v>
                  </c:pt>
                  <c:pt idx="1">
                    <c:v>Coverage at 0.60</c:v>
                  </c:pt>
                  <c:pt idx="2">
                    <c:v>Median IoU</c:v>
                  </c:pt>
                  <c:pt idx="3">
                    <c:v>Error when published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43</c:v>
                </c:pt>
                <c:pt idx="2">
                  <c:v>31</c:v>
                </c:pt>
                <c:pt idx="3">
                  <c:v>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4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4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940"/>
                </a:solidFill>
                <a:latin typeface="+mn-lt"/>
              </a:rPr>
              <a:t>Throughput with real Redis and 400 ms reads (tiles/s)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Tiles per second</c:v>
                </c:pt>
              </c:strCache>
            </c:strRef>
          </c:tx>
          <c:spPr>
            <a:solidFill>
              <a:srgbClr val="2F6FB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worker</c:v>
                  </c:pt>
                  <c:pt idx="1">
                    <c:v>2 workers</c:v>
                  </c:pt>
                  <c:pt idx="2">
                    <c:v>4 workers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7.8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4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940"/>
                </a:solidFill>
                <a:latin typeface="+mn-lt"/>
              </a:rPr>
              <a:t>Archive by category (225 papers)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spPr>
            <a:solidFill>
              <a:srgbClr val="2F6F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Historical</c:v>
                  </c:pt>
                  <c:pt idx="1">
                    <c:v>Object detection</c:v>
                  </c:pt>
                  <c:pt idx="2">
                    <c:v>Data infrastructure</c:v>
                  </c:pt>
                  <c:pt idx="3">
                    <c:v>Efficient inference</c:v>
                  </c:pt>
                  <c:pt idx="4">
                    <c:v>Upcoming (2026)</c:v>
                  </c:pt>
                  <c:pt idx="5">
                    <c:v>Human factors</c:v>
                  </c:pt>
                  <c:pt idx="6">
                    <c:v>EO agents</c:v>
                  </c:pt>
                  <c:pt idx="7">
                    <c:v>Indian context</c:v>
                  </c:pt>
                  <c:pt idx="8">
                    <c:v>SAR and fusion</c:v>
                  </c:pt>
                  <c:pt idx="9">
                    <c:v>EO foundation models</c:v>
                  </c:pt>
                  <c:pt idx="10">
                    <c:v>Change detection</c:v>
                  </c:pt>
                  <c:pt idx="11">
                    <c:v>Trust and calibration</c:v>
                  </c:pt>
                  <c:pt idx="12">
                    <c:v>RS benchmarks</c:v>
                  </c:pt>
                  <c:pt idx="13">
                    <c:v>RS vision-language models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</c:v>
                </c:pt>
                <c:pt idx="1">
                  <c:v>10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14</c:v>
                </c:pt>
                <c:pt idx="6">
                  <c:v>15</c:v>
                </c:pt>
                <c:pt idx="7">
                  <c:v>16</c:v>
                </c:pt>
                <c:pt idx="8">
                  <c:v>17</c:v>
                </c:pt>
                <c:pt idx="9">
                  <c:v>18</c:v>
                </c:pt>
                <c:pt idx="10">
                  <c:v>18</c:v>
                </c:pt>
                <c:pt idx="11">
                  <c:v>21</c:v>
                </c:pt>
                <c:pt idx="12">
                  <c:v>22</c:v>
                </c:pt>
                <c:pt idx="13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SatClip answers plain-language questions about Indian land, like how much of a district was under water on a date, from live Sentinel data. Each answer is an evidence card: a measured number, a map, scene IDs and dates, a calibrated confidence and a receipt anyone can re-run. When the evidence is weak it says so instead of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SOLUTION.md section 1 and the evidence brief (docs/reference/problem-evidence.md, claims E2, E5, E6, E11, E16). The beachhead is monsoon flood and crop questions at district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735 is the number of districts in SatClip's gazetteer (geoBoundaries ADM2). Skills gap: India's geospatial task force (E21, E22). Cloud cover: E30. Sentinel-1C and 1D restore a 6-day revisit (E42, E43). Fluent AI makes this worse: GPT-4V localisation about 0.16 mIoU (A013); 2026 RS hallucination benchmark reports 47 to 61% hallucination rates (A203).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refines the submitted deck: the LoRA-tuned VLM moves from the centre to the language layer (SOLUTION section 8). Evidence: GeoChat, EarthDial and GEOBench-VLM results (A001, A003, A014); RSHBench 2026 (A203).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run, docs/demo/TRANSCRIPT.md: scene S1A_IW_GRDH_1SDV_20240711T115715 (Sentinel-1, chosen automatically because of monsoon cloud), receipt 5d27fcc87150f848. Honest caveat: the 914 sq km includes the Brahmaputra channel and permanent wetlands; it has not been checked against an independent flood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areas are the least reliable number SatClip measures (Kuro Siwo calibration: 75% of flood chips undercounted by more than 20%). Instead of a confident wrong number, the card explains why and offers two extent questions, each measured and calibrated on its own. Source: TRANSCRIPT.md, receipts 4b761f62146d6e6d and 3af7eb6ef03ed33a.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are from the prototype (docs/screenshots). Keyboard walkthrough: tools/ui_keyboard_check.py. Parser accuracy on 44 hand-written questions (English, Hinglish, Hindi): 0.68 full match with the rule parser; the LoRA parser (training/) is meant to raise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figures: Earth-Agent with GPT-5 (A094) and ThinkGeo with GPT-4o (A092). Hallucination rates: RSHBench 2026 (A203). Day-one value needs no training: instruments are physics-based or pretrained and the data is free (SOLUTION section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training/calibration/reports/sar_water_otsu.md (v1.0 vs v1.1), fit_change report (Kuro Siwo, grouped cross-validation by event), docs/quality/reproducibility.json. The reproducibility check caught a real defect in run 8 (GDAL decimation under concurrency) which is fixed. Crop-change confidence is still a labelled placeholder: no open Indian crop-decline labels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docs/QUALITY.md and docs/quality/loadtest.json (2 vCPU sandbox). Compute is about 0.1 s per tile; with simulated 400 ms reads, 1, 2 and 4 Redis workers gave 2.0, 4.0 and 7.8 tiles/s. Parse-only API: 84 requests/s, p50 14 ms. Architecture: docs/ARCHITECTURE.md.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archive: archive/README.md and archive/index.csv, one entry per paper with what it means for SatClip. Closest prior work: VisTA A179, EO-Gym A176, SHRUG-FM A202, UnivEARTH A204, TerraScope A201. The novelty claim (NOVELTY.md) is the combination: calibrated confidence, threshold abstention with a next step, scene receipts, live Sentinel retrieval with automatic SAR fallback, on CPU, for Indian non-experts.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Limits: SOLUTION.md section 9 (risks 12 and 17), archive A210 (HAND), A211 (exclusion maps), A212 (probabilistic flood mapping), A214 and A215 (urban flood coherence; Planetary Computer RTC has no phase, so coherence is not available today). Training code is ready to run: training/colab/satclip_lora.ipynb.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Stardust, RVITM Bengaluru, Smart India Hackathon 2026, problem statement SIH26167.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evidence card. Offer to run a live question for the jury's own district.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Y_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470"/>
                </a:solidFill>
              </a:rPr>
              <a:t>SatClip  |  Team Stardust  |  SIH26167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Y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SatClip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satellite a plain question. Get evidence, not guesses.</a:t>
            </a:r>
            <a:endParaRPr lang="en-US" sz="2200" dirty="0"/>
          </a:p>
        </p:txBody>
      </p:sp>
      <p:sp>
        <p:nvSpPr>
          <p:cNvPr id="4" name="clay-1-base"/>
          <p:cNvSpPr/>
          <p:nvPr/>
        </p:nvSpPr>
        <p:spPr>
          <a:xfrm>
            <a:off x="731520" y="1097280"/>
            <a:ext cx="3840480" cy="50292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outerShdw sx="100000" sy="100000" kx="0" ky="0" algn="bl" rotWithShape="0" blurRad="101600" dist="38100" dir="2700000">
              <a:srgbClr val="141A33">
                <a:alpha val="60000"/>
              </a:srgbClr>
            </a:outerShdw>
          </a:effectLst>
        </p:spPr>
      </p:sp>
      <p:sp>
        <p:nvSpPr>
          <p:cNvPr id="5" name="clay-1-top"/>
          <p:cNvSpPr/>
          <p:nvPr/>
        </p:nvSpPr>
        <p:spPr>
          <a:xfrm>
            <a:off x="731520" y="1097280"/>
            <a:ext cx="3840480" cy="50292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6" name="pill-1"/>
          <p:cNvSpPr txBox="1"/>
          <p:nvPr/>
        </p:nvSpPr>
        <p:spPr>
          <a:xfrm>
            <a:off x="731520" y="1097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40"/>
                </a:solidFill>
              </a:rPr>
              <a:t>SIH26167  |  SatQueryAI  |  Space Technology</a:t>
            </a:r>
            <a:endParaRPr lang="en-US" sz="1300" dirty="0"/>
          </a:p>
        </p:txBody>
      </p:sp>
      <p:sp>
        <p:nvSpPr>
          <p:cNvPr id="7" name="clay-2-base"/>
          <p:cNvSpPr/>
          <p:nvPr/>
        </p:nvSpPr>
        <p:spPr>
          <a:xfrm>
            <a:off x="731520" y="484632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outerShdw sx="100000" sy="100000" kx="0" ky="0" algn="bl" rotWithShape="0" blurRad="101600" dist="38100" dir="2700000">
              <a:srgbClr val="141A33">
                <a:alpha val="60000"/>
              </a:srgbClr>
            </a:outerShdw>
          </a:effectLst>
        </p:spPr>
      </p:sp>
      <p:sp>
        <p:nvSpPr>
          <p:cNvPr id="8" name="clay-2-top"/>
          <p:cNvSpPr/>
          <p:nvPr/>
        </p:nvSpPr>
        <p:spPr>
          <a:xfrm>
            <a:off x="731520" y="484632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9" name="pill-2"/>
          <p:cNvSpPr txBox="1"/>
          <p:nvPr/>
        </p:nvSpPr>
        <p:spPr>
          <a:xfrm>
            <a:off x="73152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40"/>
                </a:solidFill>
              </a:rPr>
              <a:t>Live Sentinel-1 and 2</a:t>
            </a:r>
            <a:endParaRPr lang="en-US" sz="1300" dirty="0"/>
          </a:p>
        </p:txBody>
      </p:sp>
      <p:sp>
        <p:nvSpPr>
          <p:cNvPr id="10" name="clay-3-base"/>
          <p:cNvSpPr/>
          <p:nvPr/>
        </p:nvSpPr>
        <p:spPr>
          <a:xfrm>
            <a:off x="3611880" y="484632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A33">
                <a:alpha val="60000"/>
              </a:srgbClr>
            </a:outerShdw>
          </a:effectLst>
        </p:spPr>
      </p:sp>
      <p:sp>
        <p:nvSpPr>
          <p:cNvPr id="11" name="clay-3-top"/>
          <p:cNvSpPr/>
          <p:nvPr/>
        </p:nvSpPr>
        <p:spPr>
          <a:xfrm>
            <a:off x="3611880" y="484632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2" name="pill-3"/>
          <p:cNvSpPr txBox="1"/>
          <p:nvPr/>
        </p:nvSpPr>
        <p:spPr>
          <a:xfrm>
            <a:off x="361188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40"/>
                </a:solidFill>
              </a:rPr>
              <a:t>Abstains when unsure</a:t>
            </a:r>
            <a:endParaRPr lang="en-US" sz="1300" dirty="0"/>
          </a:p>
        </p:txBody>
      </p:sp>
      <p:sp>
        <p:nvSpPr>
          <p:cNvPr id="13" name="clay-4-base"/>
          <p:cNvSpPr/>
          <p:nvPr/>
        </p:nvSpPr>
        <p:spPr>
          <a:xfrm>
            <a:off x="6492240" y="484632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outerShdw sx="100000" sy="100000" kx="0" ky="0" algn="bl" rotWithShape="0" blurRad="101600" dist="38100" dir="2700000">
              <a:srgbClr val="141A33">
                <a:alpha val="60000"/>
              </a:srgbClr>
            </a:outerShdw>
          </a:effectLst>
        </p:spPr>
      </p:sp>
      <p:sp>
        <p:nvSpPr>
          <p:cNvPr id="14" name="clay-4-top"/>
          <p:cNvSpPr/>
          <p:nvPr/>
        </p:nvSpPr>
        <p:spPr>
          <a:xfrm>
            <a:off x="6492240" y="484632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5" name="pill-4"/>
          <p:cNvSpPr txBox="1"/>
          <p:nvPr/>
        </p:nvSpPr>
        <p:spPr>
          <a:xfrm>
            <a:off x="64922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40"/>
                </a:solidFill>
              </a:rPr>
              <a:t>Runs on a CPU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3F7"/>
                </a:solidFill>
              </a:rPr>
              <a:t>Team Stardust, RVITM Bengaluru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people who need a satellite answer today</a:t>
            </a:r>
            <a:endParaRPr lang="en-US" sz="3400" dirty="0"/>
          </a:p>
        </p:txBody>
      </p:sp>
      <p:sp>
        <p:nvSpPr>
          <p:cNvPr id="3" name="clay-5-base"/>
          <p:cNvSpPr/>
          <p:nvPr/>
        </p:nvSpPr>
        <p:spPr>
          <a:xfrm>
            <a:off x="548640" y="1463040"/>
            <a:ext cx="3520440" cy="4572000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4" name="clay-5-top"/>
          <p:cNvSpPr/>
          <p:nvPr/>
        </p:nvSpPr>
        <p:spPr>
          <a:xfrm>
            <a:off x="548640" y="1463040"/>
            <a:ext cx="3520440" cy="4572000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5" name="clay-6-base"/>
          <p:cNvSpPr/>
          <p:nvPr/>
        </p:nvSpPr>
        <p:spPr>
          <a:xfrm>
            <a:off x="868680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6" name="clay-6-top"/>
          <p:cNvSpPr/>
          <p:nvPr/>
        </p:nvSpPr>
        <p:spPr>
          <a:xfrm>
            <a:off x="868680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9888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17830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40"/>
                </a:solidFill>
              </a:rPr>
              <a:t>District disaster official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346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40"/>
                </a:solidFill>
              </a:rPr>
              <a:t>"Which parts of my district are under water since Tuesday, and is it spreading?"</a:t>
            </a:r>
            <a:endParaRPr lang="en-US" sz="1500" dirty="0"/>
          </a:p>
        </p:txBody>
      </p:sp>
      <p:sp>
        <p:nvSpPr>
          <p:cNvPr id="10" name="clay-7-base"/>
          <p:cNvSpPr/>
          <p:nvPr/>
        </p:nvSpPr>
        <p:spPr>
          <a:xfrm>
            <a:off x="777240" y="4251960"/>
            <a:ext cx="3063240" cy="1554480"/>
          </a:xfrm>
          <a:prstGeom prst="roundRect">
            <a:avLst>
              <a:gd name="adj" fmla="val 10588"/>
            </a:avLst>
          </a:prstGeom>
          <a:solidFill>
            <a:srgbClr val="EDF0F8"/>
          </a:solidFill>
          <a:ln w="6350">
            <a:solidFill>
              <a:srgbClr val="EDF0F8"/>
            </a:solidFill>
            <a:prstDash val="solid"/>
          </a:ln>
          <a:effectLst>
            <a:outerShdw sx="100000" sy="100000" kx="0" ky="0" algn="bl" rotWithShape="0" blurRad="76200" dist="25400" dir="2700000">
              <a:srgbClr val="A3ACCB">
                <a:alpha val="55000"/>
              </a:srgbClr>
            </a:outerShdw>
          </a:effectLst>
        </p:spPr>
      </p:sp>
      <p:sp>
        <p:nvSpPr>
          <p:cNvPr id="11" name="clay-7-top"/>
          <p:cNvSpPr/>
          <p:nvPr/>
        </p:nvSpPr>
        <p:spPr>
          <a:xfrm>
            <a:off x="777240" y="4251960"/>
            <a:ext cx="3063240" cy="1554480"/>
          </a:xfrm>
          <a:prstGeom prst="roundRect">
            <a:avLst>
              <a:gd name="adj" fmla="val 10588"/>
            </a:avLst>
          </a:prstGeom>
          <a:solidFill>
            <a:srgbClr val="EDF0F8"/>
          </a:solidFill>
          <a:ln w="6350">
            <a:solidFill>
              <a:srgbClr val="EDF0F8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2" name="Text 9"/>
          <p:cNvSpPr txBox="1"/>
          <p:nvPr/>
        </p:nvSpPr>
        <p:spPr>
          <a:xfrm>
            <a:off x="960120" y="438912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Today: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Waits for central NRSC flood maps: about 300 products for all of India in 2024, delivered same day to two days later.</a:t>
            </a:r>
            <a:endParaRPr lang="en-US" sz="1300" dirty="0"/>
          </a:p>
        </p:txBody>
      </p:sp>
      <p:sp>
        <p:nvSpPr>
          <p:cNvPr id="13" name="clay-8-base"/>
          <p:cNvSpPr/>
          <p:nvPr/>
        </p:nvSpPr>
        <p:spPr>
          <a:xfrm>
            <a:off x="4343400" y="1463040"/>
            <a:ext cx="3520440" cy="4572000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4" name="clay-8-top"/>
          <p:cNvSpPr/>
          <p:nvPr/>
        </p:nvSpPr>
        <p:spPr>
          <a:xfrm>
            <a:off x="4343400" y="1463040"/>
            <a:ext cx="3520440" cy="4572000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5" name="clay-9-base"/>
          <p:cNvSpPr/>
          <p:nvPr/>
        </p:nvSpPr>
        <p:spPr>
          <a:xfrm>
            <a:off x="4663440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6" name="clay-9-top"/>
          <p:cNvSpPr/>
          <p:nvPr/>
        </p:nvSpPr>
        <p:spPr>
          <a:xfrm>
            <a:off x="4663440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198882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669280" y="17830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40"/>
                </a:solidFill>
              </a:rPr>
              <a:t>Agriculture and crop-insurance officer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4663440" y="28346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40"/>
                </a:solidFill>
              </a:rPr>
              <a:t>"Did the crop in these blocks really decline between sowing and harvest?"</a:t>
            </a:r>
            <a:endParaRPr lang="en-US" sz="1500" dirty="0"/>
          </a:p>
        </p:txBody>
      </p:sp>
      <p:sp>
        <p:nvSpPr>
          <p:cNvPr id="20" name="clay-10-base"/>
          <p:cNvSpPr/>
          <p:nvPr/>
        </p:nvSpPr>
        <p:spPr>
          <a:xfrm>
            <a:off x="4572000" y="4251960"/>
            <a:ext cx="3063240" cy="1554480"/>
          </a:xfrm>
          <a:prstGeom prst="roundRect">
            <a:avLst>
              <a:gd name="adj" fmla="val 10588"/>
            </a:avLst>
          </a:prstGeom>
          <a:solidFill>
            <a:srgbClr val="EDF0F8"/>
          </a:solidFill>
          <a:ln w="6350">
            <a:solidFill>
              <a:srgbClr val="EDF0F8"/>
            </a:solidFill>
            <a:prstDash val="solid"/>
          </a:ln>
          <a:effectLst>
            <a:outerShdw sx="100000" sy="100000" kx="0" ky="0" algn="bl" rotWithShape="0" blurRad="76200" dist="25400" dir="2700000">
              <a:srgbClr val="A3ACCB">
                <a:alpha val="55000"/>
              </a:srgbClr>
            </a:outerShdw>
          </a:effectLst>
        </p:spPr>
      </p:sp>
      <p:sp>
        <p:nvSpPr>
          <p:cNvPr id="21" name="clay-10-top"/>
          <p:cNvSpPr/>
          <p:nvPr/>
        </p:nvSpPr>
        <p:spPr>
          <a:xfrm>
            <a:off x="4572000" y="4251960"/>
            <a:ext cx="3063240" cy="1554480"/>
          </a:xfrm>
          <a:prstGeom prst="roundRect">
            <a:avLst>
              <a:gd name="adj" fmla="val 10588"/>
            </a:avLst>
          </a:prstGeom>
          <a:solidFill>
            <a:srgbClr val="EDF0F8"/>
          </a:solidFill>
          <a:ln w="6350">
            <a:solidFill>
              <a:srgbClr val="EDF0F8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2" name="Text 18"/>
          <p:cNvSpPr txBox="1"/>
          <p:nvPr/>
        </p:nvSpPr>
        <p:spPr>
          <a:xfrm>
            <a:off x="4754880" y="438912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Today: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Relies on slow crop-cutting experiments; satellite yield estimates are disputed without an independent check.</a:t>
            </a:r>
            <a:endParaRPr lang="en-US" sz="1300" dirty="0"/>
          </a:p>
        </p:txBody>
      </p:sp>
      <p:sp>
        <p:nvSpPr>
          <p:cNvPr id="23" name="clay-11-base"/>
          <p:cNvSpPr/>
          <p:nvPr/>
        </p:nvSpPr>
        <p:spPr>
          <a:xfrm>
            <a:off x="8138160" y="1463040"/>
            <a:ext cx="3520440" cy="4572000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24" name="clay-11-top"/>
          <p:cNvSpPr/>
          <p:nvPr/>
        </p:nvSpPr>
        <p:spPr>
          <a:xfrm>
            <a:off x="8138160" y="1463040"/>
            <a:ext cx="3520440" cy="4572000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5" name="clay-12-base"/>
          <p:cNvSpPr/>
          <p:nvPr/>
        </p:nvSpPr>
        <p:spPr>
          <a:xfrm>
            <a:off x="8458200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26" name="clay-12-top"/>
          <p:cNvSpPr/>
          <p:nvPr/>
        </p:nvSpPr>
        <p:spPr>
          <a:xfrm>
            <a:off x="8458200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0" y="1988820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464040" y="17830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40"/>
                </a:solidFill>
              </a:rPr>
              <a:t>Journalist or fact-checker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458200" y="28346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40"/>
                </a:solidFill>
              </a:rPr>
              <a:t>"Was this village really flooded on the date in the viral post?"</a:t>
            </a:r>
            <a:endParaRPr lang="en-US" sz="1500" dirty="0"/>
          </a:p>
        </p:txBody>
      </p:sp>
      <p:sp>
        <p:nvSpPr>
          <p:cNvPr id="30" name="clay-13-base"/>
          <p:cNvSpPr/>
          <p:nvPr/>
        </p:nvSpPr>
        <p:spPr>
          <a:xfrm>
            <a:off x="8366760" y="4251960"/>
            <a:ext cx="3063240" cy="1554480"/>
          </a:xfrm>
          <a:prstGeom prst="roundRect">
            <a:avLst>
              <a:gd name="adj" fmla="val 10588"/>
            </a:avLst>
          </a:prstGeom>
          <a:solidFill>
            <a:srgbClr val="EDF0F8"/>
          </a:solidFill>
          <a:ln w="6350">
            <a:solidFill>
              <a:srgbClr val="EDF0F8"/>
            </a:solidFill>
            <a:prstDash val="solid"/>
          </a:ln>
          <a:effectLst>
            <a:outerShdw sx="100000" sy="100000" kx="0" ky="0" algn="bl" rotWithShape="0" blurRad="76200" dist="25400" dir="2700000">
              <a:srgbClr val="A3ACCB">
                <a:alpha val="55000"/>
              </a:srgbClr>
            </a:outerShdw>
          </a:effectLst>
        </p:spPr>
      </p:sp>
      <p:sp>
        <p:nvSpPr>
          <p:cNvPr id="31" name="clay-13-top"/>
          <p:cNvSpPr/>
          <p:nvPr/>
        </p:nvSpPr>
        <p:spPr>
          <a:xfrm>
            <a:off x="8366760" y="4251960"/>
            <a:ext cx="3063240" cy="1554480"/>
          </a:xfrm>
          <a:prstGeom prst="roundRect">
            <a:avLst>
              <a:gd name="adj" fmla="val 10588"/>
            </a:avLst>
          </a:prstGeom>
          <a:solidFill>
            <a:srgbClr val="EDF0F8"/>
          </a:solidFill>
          <a:ln w="6350">
            <a:solidFill>
              <a:srgbClr val="EDF0F8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32" name="Text 27"/>
          <p:cNvSpPr txBox="1"/>
          <p:nvPr/>
        </p:nvSpPr>
        <p:spPr>
          <a:xfrm>
            <a:off x="8549640" y="438912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Today: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Needs GIS skills and hours of data wrangling, or trusts a fluent AI answer that cites no scene.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problem does not go away</a:t>
            </a:r>
            <a:endParaRPr lang="en-US" sz="3400" dirty="0"/>
          </a:p>
        </p:txBody>
      </p:sp>
      <p:sp>
        <p:nvSpPr>
          <p:cNvPr id="3" name="clay-14-base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1087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4" name="clay-14-top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1087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783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40"/>
                </a:solidFill>
              </a:rPr>
              <a:t>Questions are local; maps are made centrally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40"/>
                </a:solidFill>
              </a:rPr>
              <a:t>districts, each with its own polygon and dates</a:t>
            </a:r>
            <a:endParaRPr lang="en-US" sz="1400" dirty="0"/>
          </a:p>
        </p:txBody>
      </p:sp>
      <p:sp>
        <p:nvSpPr>
          <p:cNvPr id="8" name="clay-15-base"/>
          <p:cNvSpPr/>
          <p:nvPr/>
        </p:nvSpPr>
        <p:spPr>
          <a:xfrm>
            <a:off x="6172200" y="1463040"/>
            <a:ext cx="5394960" cy="2103120"/>
          </a:xfrm>
          <a:prstGeom prst="roundRect">
            <a:avLst>
              <a:gd name="adj" fmla="val 10870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9" name="clay-15-top"/>
          <p:cNvSpPr/>
          <p:nvPr/>
        </p:nvSpPr>
        <p:spPr>
          <a:xfrm>
            <a:off x="6172200" y="1463040"/>
            <a:ext cx="5394960" cy="2103120"/>
          </a:xfrm>
          <a:prstGeom prst="roundRect">
            <a:avLst>
              <a:gd name="adj" fmla="val 10870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~500k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732520" y="1783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40"/>
                </a:solidFill>
              </a:rPr>
              <a:t>The skills gap closes slowly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743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40"/>
                </a:solidFill>
              </a:rPr>
              <a:t>more geospatial users India needs, against 25k to 50k trained</a:t>
            </a:r>
            <a:endParaRPr lang="en-US" sz="1400" dirty="0"/>
          </a:p>
        </p:txBody>
      </p:sp>
      <p:sp>
        <p:nvSpPr>
          <p:cNvPr id="13" name="clay-16-base"/>
          <p:cNvSpPr/>
          <p:nvPr/>
        </p:nvSpPr>
        <p:spPr>
          <a:xfrm>
            <a:off x="548640" y="3840480"/>
            <a:ext cx="5394960" cy="2103120"/>
          </a:xfrm>
          <a:prstGeom prst="roundRect">
            <a:avLst>
              <a:gd name="adj" fmla="val 1087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4" name="clay-16-top"/>
          <p:cNvSpPr/>
          <p:nvPr/>
        </p:nvSpPr>
        <p:spPr>
          <a:xfrm>
            <a:off x="548640" y="3840480"/>
            <a:ext cx="5394960" cy="2103120"/>
          </a:xfrm>
          <a:prstGeom prst="roundRect">
            <a:avLst>
              <a:gd name="adj" fmla="val 1087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4114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&gt;60%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4160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40"/>
                </a:solidFill>
              </a:rPr>
              <a:t>Optical fails exactly in the monsoon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120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40"/>
                </a:solidFill>
              </a:rPr>
              <a:t>cloud cover over most of India, June to September</a:t>
            </a:r>
            <a:endParaRPr lang="en-US" sz="1400" dirty="0"/>
          </a:p>
        </p:txBody>
      </p:sp>
      <p:sp>
        <p:nvSpPr>
          <p:cNvPr id="18" name="clay-17-base"/>
          <p:cNvSpPr/>
          <p:nvPr/>
        </p:nvSpPr>
        <p:spPr>
          <a:xfrm>
            <a:off x="6172200" y="3840480"/>
            <a:ext cx="5394960" cy="2103120"/>
          </a:xfrm>
          <a:prstGeom prst="roundRect">
            <a:avLst>
              <a:gd name="adj" fmla="val 1087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9" name="clay-17-top"/>
          <p:cNvSpPr/>
          <p:nvPr/>
        </p:nvSpPr>
        <p:spPr>
          <a:xfrm>
            <a:off x="6172200" y="3840480"/>
            <a:ext cx="5394960" cy="2103120"/>
          </a:xfrm>
          <a:prstGeom prst="roundRect">
            <a:avLst>
              <a:gd name="adj" fmla="val 1087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0" name="Text 18"/>
          <p:cNvSpPr txBox="1"/>
          <p:nvPr/>
        </p:nvSpPr>
        <p:spPr>
          <a:xfrm>
            <a:off x="6492240" y="4114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days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4160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40"/>
                </a:solidFill>
              </a:rPr>
              <a:t>Data is not the bottleneck; trust is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120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40"/>
                </a:solidFill>
              </a:rPr>
              <a:t>Sentinel-1 radar revisit, free and open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in, one evidence card out</a:t>
            </a:r>
            <a:endParaRPr lang="en-US" sz="3400" dirty="0"/>
          </a:p>
        </p:txBody>
      </p:sp>
      <p:sp>
        <p:nvSpPr>
          <p:cNvPr id="3" name="clay-18-base"/>
          <p:cNvSpPr/>
          <p:nvPr/>
        </p:nvSpPr>
        <p:spPr>
          <a:xfrm>
            <a:off x="548640" y="1508760"/>
            <a:ext cx="2011680" cy="25146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4" name="clay-18-top"/>
          <p:cNvSpPr/>
          <p:nvPr/>
        </p:nvSpPr>
        <p:spPr>
          <a:xfrm>
            <a:off x="548640" y="1508760"/>
            <a:ext cx="2011680" cy="25146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5" name="clay-19-base"/>
          <p:cNvSpPr/>
          <p:nvPr/>
        </p:nvSpPr>
        <p:spPr>
          <a:xfrm>
            <a:off x="1143000" y="17373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6" name="clay-19-top"/>
          <p:cNvSpPr/>
          <p:nvPr/>
        </p:nvSpPr>
        <p:spPr>
          <a:xfrm>
            <a:off x="1143000" y="17373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9431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40"/>
                </a:solidFill>
              </a:rPr>
              <a:t>Ask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08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Plain English, Hinglish or Hindi; district and dates</a:t>
            </a:r>
            <a:endParaRPr lang="en-US" sz="1300" dirty="0"/>
          </a:p>
        </p:txBody>
      </p:sp>
      <p:sp>
        <p:nvSpPr>
          <p:cNvPr id="10" name="clay-20-base"/>
          <p:cNvSpPr/>
          <p:nvPr/>
        </p:nvSpPr>
        <p:spPr>
          <a:xfrm>
            <a:off x="2816352" y="1508760"/>
            <a:ext cx="2011680" cy="25146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1" name="clay-20-top"/>
          <p:cNvSpPr/>
          <p:nvPr/>
        </p:nvSpPr>
        <p:spPr>
          <a:xfrm>
            <a:off x="2816352" y="1508760"/>
            <a:ext cx="2011680" cy="25146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2" name="clay-21-base"/>
          <p:cNvSpPr/>
          <p:nvPr/>
        </p:nvSpPr>
        <p:spPr>
          <a:xfrm>
            <a:off x="3410712" y="17373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3" name="clay-21-top"/>
          <p:cNvSpPr/>
          <p:nvPr/>
        </p:nvSpPr>
        <p:spPr>
          <a:xfrm>
            <a:off x="3410712" y="17373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19431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53512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40"/>
                </a:solidFill>
              </a:rPr>
              <a:t>Find scenes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2999232" y="3108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Live STAC search; radar when clouds block optical</a:t>
            </a:r>
            <a:endParaRPr lang="en-US" sz="1300" dirty="0"/>
          </a:p>
        </p:txBody>
      </p:sp>
      <p:sp>
        <p:nvSpPr>
          <p:cNvPr id="17" name="clay-22-base"/>
          <p:cNvSpPr/>
          <p:nvPr/>
        </p:nvSpPr>
        <p:spPr>
          <a:xfrm>
            <a:off x="5084064" y="1508760"/>
            <a:ext cx="2011680" cy="25146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8" name="clay-22-top"/>
          <p:cNvSpPr/>
          <p:nvPr/>
        </p:nvSpPr>
        <p:spPr>
          <a:xfrm>
            <a:off x="5084064" y="1508760"/>
            <a:ext cx="2011680" cy="25146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9" name="clay-23-base"/>
          <p:cNvSpPr/>
          <p:nvPr/>
        </p:nvSpPr>
        <p:spPr>
          <a:xfrm>
            <a:off x="5678424" y="17373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20" name="clay-23-top"/>
          <p:cNvSpPr/>
          <p:nvPr/>
        </p:nvSpPr>
        <p:spPr>
          <a:xfrm>
            <a:off x="5678424" y="17373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194310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221224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40"/>
                </a:solidFill>
              </a:rPr>
              <a:t>Measure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266944" y="3108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Transparent instrument on every map tile</a:t>
            </a:r>
            <a:endParaRPr lang="en-US" sz="1300" dirty="0"/>
          </a:p>
        </p:txBody>
      </p:sp>
      <p:sp>
        <p:nvSpPr>
          <p:cNvPr id="24" name="clay-24-base"/>
          <p:cNvSpPr/>
          <p:nvPr/>
        </p:nvSpPr>
        <p:spPr>
          <a:xfrm>
            <a:off x="7351776" y="1508760"/>
            <a:ext cx="2011680" cy="25146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25" name="clay-24-top"/>
          <p:cNvSpPr/>
          <p:nvPr/>
        </p:nvSpPr>
        <p:spPr>
          <a:xfrm>
            <a:off x="7351776" y="1508760"/>
            <a:ext cx="2011680" cy="25146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6" name="clay-25-base"/>
          <p:cNvSpPr/>
          <p:nvPr/>
        </p:nvSpPr>
        <p:spPr>
          <a:xfrm>
            <a:off x="7946136" y="17373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27" name="clay-25-top"/>
          <p:cNvSpPr/>
          <p:nvPr/>
        </p:nvSpPr>
        <p:spPr>
          <a:xfrm>
            <a:off x="7946136" y="17373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76" y="194310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488936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40"/>
                </a:solidFill>
              </a:rPr>
              <a:t>Calibrate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7534656" y="3108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Confidence fitted on labelled floods</a:t>
            </a:r>
            <a:endParaRPr lang="en-US" sz="1300" dirty="0"/>
          </a:p>
        </p:txBody>
      </p:sp>
      <p:sp>
        <p:nvSpPr>
          <p:cNvPr id="31" name="clay-26-base"/>
          <p:cNvSpPr/>
          <p:nvPr/>
        </p:nvSpPr>
        <p:spPr>
          <a:xfrm>
            <a:off x="9619488" y="1508760"/>
            <a:ext cx="2011680" cy="25146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32" name="clay-26-top"/>
          <p:cNvSpPr/>
          <p:nvPr/>
        </p:nvSpPr>
        <p:spPr>
          <a:xfrm>
            <a:off x="9619488" y="1508760"/>
            <a:ext cx="2011680" cy="25146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33" name="clay-27-base"/>
          <p:cNvSpPr/>
          <p:nvPr/>
        </p:nvSpPr>
        <p:spPr>
          <a:xfrm>
            <a:off x="10213848" y="17373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34" name="clay-27-top"/>
          <p:cNvSpPr/>
          <p:nvPr/>
        </p:nvSpPr>
        <p:spPr>
          <a:xfrm>
            <a:off x="10213848" y="17373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9588" y="1943100"/>
            <a:ext cx="411480" cy="41148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756648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40"/>
                </a:solidFill>
              </a:rPr>
              <a:t>Publish or abstain</a:t>
            </a:r>
            <a:endParaRPr lang="en-US" sz="1700" dirty="0"/>
          </a:p>
        </p:txBody>
      </p:sp>
      <p:sp>
        <p:nvSpPr>
          <p:cNvPr id="37" name="Text 30"/>
          <p:cNvSpPr txBox="1"/>
          <p:nvPr/>
        </p:nvSpPr>
        <p:spPr>
          <a:xfrm>
            <a:off x="9802368" y="3108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Card with scenes, mask, receipt, or a next step</a:t>
            </a:r>
            <a:endParaRPr lang="en-US" sz="1300" dirty="0"/>
          </a:p>
        </p:txBody>
      </p:sp>
      <p:sp>
        <p:nvSpPr>
          <p:cNvPr id="38" name="clay-28-base"/>
          <p:cNvSpPr/>
          <p:nvPr/>
        </p:nvSpPr>
        <p:spPr>
          <a:xfrm>
            <a:off x="548640" y="4343400"/>
            <a:ext cx="11064240" cy="1783080"/>
          </a:xfrm>
          <a:prstGeom prst="roundRect">
            <a:avLst>
              <a:gd name="adj" fmla="val 12821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39" name="clay-28-top"/>
          <p:cNvSpPr/>
          <p:nvPr/>
        </p:nvSpPr>
        <p:spPr>
          <a:xfrm>
            <a:off x="548640" y="4343400"/>
            <a:ext cx="11064240" cy="1783080"/>
          </a:xfrm>
          <a:prstGeom prst="roundRect">
            <a:avLst>
              <a:gd name="adj" fmla="val 12821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40" name="Text 33"/>
          <p:cNvSpPr txBox="1"/>
          <p:nvPr/>
        </p:nvSpPr>
        <p:spPr>
          <a:xfrm>
            <a:off x="868680" y="452628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40"/>
                </a:solidFill>
              </a:rPr>
              <a:t>The core idea: instruments answer, the language model only asks and explains.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40"/>
                </a:solidFill>
              </a:rPr>
              <a:t>Every number comes from a named, versioned instrument run on an identified Sentinel scene (SAR water threshold, log-ratio change, NDVI difference). A vision-language model never produces the number, because benchmarks show they localise and count poorly.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1: Barpeta flood extent, 11 July 2024</a:t>
            </a:r>
            <a:endParaRPr lang="en-US" sz="3400" dirty="0"/>
          </a:p>
        </p:txBody>
      </p:sp>
      <p:sp>
        <p:nvSpPr>
          <p:cNvPr id="3" name="clay-29-base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4" name="clay-29-top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5" name="Image 0" descr="SatClip answer card for Barpeta flood extent with map over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847" y="1527048"/>
            <a:ext cx="6814225" cy="4535424"/>
          </a:xfrm>
          <a:prstGeom prst="rect">
            <a:avLst/>
          </a:prstGeom>
        </p:spPr>
      </p:pic>
      <p:sp>
        <p:nvSpPr>
          <p:cNvPr id="6" name="clay-30-base"/>
          <p:cNvSpPr/>
          <p:nvPr/>
        </p:nvSpPr>
        <p:spPr>
          <a:xfrm>
            <a:off x="8275320" y="1417320"/>
            <a:ext cx="3337560" cy="1371600"/>
          </a:xfrm>
          <a:prstGeom prst="roundRect">
            <a:avLst>
              <a:gd name="adj" fmla="val 16667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7" name="clay-30-top"/>
          <p:cNvSpPr/>
          <p:nvPr/>
        </p:nvSpPr>
        <p:spPr>
          <a:xfrm>
            <a:off x="8275320" y="1417320"/>
            <a:ext cx="3337560" cy="1371600"/>
          </a:xfrm>
          <a:prstGeom prst="roundRect">
            <a:avLst>
              <a:gd name="adj" fmla="val 16667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8" name="Text 5"/>
          <p:cNvSpPr txBox="1"/>
          <p:nvPr/>
        </p:nvSpPr>
        <p:spPr>
          <a:xfrm>
            <a:off x="8503920" y="1554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914 sq km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under water, 39% of the district measured</a:t>
            </a:r>
            <a:endParaRPr lang="en-US" sz="1300" dirty="0"/>
          </a:p>
        </p:txBody>
      </p:sp>
      <p:sp>
        <p:nvSpPr>
          <p:cNvPr id="10" name="clay-31-base"/>
          <p:cNvSpPr/>
          <p:nvPr/>
        </p:nvSpPr>
        <p:spPr>
          <a:xfrm>
            <a:off x="8275320" y="3044952"/>
            <a:ext cx="3337560" cy="1371600"/>
          </a:xfrm>
          <a:prstGeom prst="roundRect">
            <a:avLst>
              <a:gd name="adj" fmla="val 16667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1" name="clay-31-top"/>
          <p:cNvSpPr/>
          <p:nvPr/>
        </p:nvSpPr>
        <p:spPr>
          <a:xfrm>
            <a:off x="8275320" y="3044952"/>
            <a:ext cx="3337560" cy="1371600"/>
          </a:xfrm>
          <a:prstGeom prst="roundRect">
            <a:avLst>
              <a:gd name="adj" fmla="val 16667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2" name="Text 9"/>
          <p:cNvSpPr txBox="1"/>
          <p:nvPr/>
        </p:nvSpPr>
        <p:spPr>
          <a:xfrm>
            <a:off x="8503920" y="31821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37764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calibrated confidence, just above the 0.60 bar</a:t>
            </a:r>
            <a:endParaRPr lang="en-US" sz="1300" dirty="0"/>
          </a:p>
        </p:txBody>
      </p:sp>
      <p:sp>
        <p:nvSpPr>
          <p:cNvPr id="14" name="clay-32-base"/>
          <p:cNvSpPr/>
          <p:nvPr/>
        </p:nvSpPr>
        <p:spPr>
          <a:xfrm>
            <a:off x="8275320" y="4672584"/>
            <a:ext cx="3337560" cy="1371600"/>
          </a:xfrm>
          <a:prstGeom prst="roundRect">
            <a:avLst>
              <a:gd name="adj" fmla="val 16667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5" name="clay-32-top"/>
          <p:cNvSpPr/>
          <p:nvPr/>
        </p:nvSpPr>
        <p:spPr>
          <a:xfrm>
            <a:off x="8275320" y="4672584"/>
            <a:ext cx="3337560" cy="1371600"/>
          </a:xfrm>
          <a:prstGeom prst="roundRect">
            <a:avLst>
              <a:gd name="adj" fmla="val 16667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48097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s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8503920" y="54041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cold, 117 radar tiles on a 2-core CPU; 0.5 s warm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2: when the evidence is weak, SatClip says so</a:t>
            </a:r>
            <a:endParaRPr lang="en-US" sz="3400" dirty="0"/>
          </a:p>
        </p:txBody>
      </p:sp>
      <p:sp>
        <p:nvSpPr>
          <p:cNvPr id="3" name="clay-33-base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4" name="clay-33-top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5" name="Image 0" descr="Abstained flood change card with two follow-up butt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095" y="1527048"/>
            <a:ext cx="2909769" cy="3712464"/>
          </a:xfrm>
          <a:prstGeom prst="rect">
            <a:avLst/>
          </a:prstGeom>
        </p:spPr>
      </p:pic>
      <p:sp>
        <p:nvSpPr>
          <p:cNvPr id="6" name="clay-34-base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7" name="clay-34-top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8" name="Image 1" descr="Published follow-up answer for water before the floo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718" y="1527048"/>
            <a:ext cx="3943643" cy="3712464"/>
          </a:xfrm>
          <a:prstGeom prst="rect">
            <a:avLst/>
          </a:prstGeom>
        </p:spPr>
      </p:pic>
      <p:sp>
        <p:nvSpPr>
          <p:cNvPr id="9" name="clay-35-base"/>
          <p:cNvSpPr/>
          <p:nvPr/>
        </p:nvSpPr>
        <p:spPr>
          <a:xfrm>
            <a:off x="548640" y="5532120"/>
            <a:ext cx="5440680" cy="594360"/>
          </a:xfrm>
          <a:prstGeom prst="roundRect">
            <a:avLst>
              <a:gd name="adj" fmla="val 5000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0" name="clay-35-top"/>
          <p:cNvSpPr/>
          <p:nvPr/>
        </p:nvSpPr>
        <p:spPr>
          <a:xfrm>
            <a:off x="548640" y="5532120"/>
            <a:ext cx="5440680" cy="594360"/>
          </a:xfrm>
          <a:prstGeom prst="roundRect">
            <a:avLst>
              <a:gd name="adj" fmla="val 5000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1" name="pill-35"/>
          <p:cNvSpPr txBox="1"/>
          <p:nvPr/>
        </p:nvSpPr>
        <p:spPr>
          <a:xfrm>
            <a:off x="548640" y="553212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40"/>
                </a:solidFill>
              </a:rPr>
              <a:t>"Did the flood spread?"  Not enough evidence (0.23)</a:t>
            </a:r>
            <a:endParaRPr lang="en-US" sz="1400" dirty="0"/>
          </a:p>
        </p:txBody>
      </p:sp>
      <p:sp>
        <p:nvSpPr>
          <p:cNvPr id="12" name="clay-36-base"/>
          <p:cNvSpPr/>
          <p:nvPr/>
        </p:nvSpPr>
        <p:spPr>
          <a:xfrm>
            <a:off x="6172200" y="5532120"/>
            <a:ext cx="5440680" cy="59436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3" name="clay-36-top"/>
          <p:cNvSpPr/>
          <p:nvPr/>
        </p:nvSpPr>
        <p:spPr>
          <a:xfrm>
            <a:off x="6172200" y="5532120"/>
            <a:ext cx="5440680" cy="59436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4" name="pill-36"/>
          <p:cNvSpPr txBox="1"/>
          <p:nvPr/>
        </p:nvSpPr>
        <p:spPr>
          <a:xfrm>
            <a:off x="6172200" y="553212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40"/>
                </a:solidFill>
              </a:rPr>
              <a:t>One click: before 413 sq km (0.73), after 914 sq km (0.62)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a phone, a hurry and no GIS training</a:t>
            </a:r>
            <a:endParaRPr lang="en-US" sz="3400" dirty="0"/>
          </a:p>
        </p:txBody>
      </p:sp>
      <p:sp>
        <p:nvSpPr>
          <p:cNvPr id="3" name="clay-37-base"/>
          <p:cNvSpPr/>
          <p:nvPr/>
        </p:nvSpPr>
        <p:spPr>
          <a:xfrm>
            <a:off x="548640" y="1417320"/>
            <a:ext cx="2514600" cy="47548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4" name="clay-37-top"/>
          <p:cNvSpPr/>
          <p:nvPr/>
        </p:nvSpPr>
        <p:spPr>
          <a:xfrm>
            <a:off x="548640" y="1417320"/>
            <a:ext cx="2514600" cy="47548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5" name="Image 0" descr="Mobile answer 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37910"/>
            <a:ext cx="2295144" cy="4113701"/>
          </a:xfrm>
          <a:prstGeom prst="rect">
            <a:avLst/>
          </a:prstGeom>
        </p:spPr>
      </p:pic>
      <p:sp>
        <p:nvSpPr>
          <p:cNvPr id="6" name="clay-38-base"/>
          <p:cNvSpPr/>
          <p:nvPr/>
        </p:nvSpPr>
        <p:spPr>
          <a:xfrm>
            <a:off x="3291840" y="1417320"/>
            <a:ext cx="2514600" cy="47548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7" name="clay-38-top"/>
          <p:cNvSpPr/>
          <p:nvPr/>
        </p:nvSpPr>
        <p:spPr>
          <a:xfrm>
            <a:off x="3291840" y="1417320"/>
            <a:ext cx="2514600" cy="47548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8" name="Image 1" descr="Mobile out of scope refus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2082808"/>
            <a:ext cx="2295144" cy="3423903"/>
          </a:xfrm>
          <a:prstGeom prst="rect">
            <a:avLst/>
          </a:prstGeom>
        </p:spPr>
      </p:pic>
      <p:sp>
        <p:nvSpPr>
          <p:cNvPr id="9" name="clay-39-base"/>
          <p:cNvSpPr/>
          <p:nvPr/>
        </p:nvSpPr>
        <p:spPr>
          <a:xfrm>
            <a:off x="6080760" y="1417320"/>
            <a:ext cx="553212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0" name="clay-39-top"/>
          <p:cNvSpPr/>
          <p:nvPr/>
        </p:nvSpPr>
        <p:spPr>
          <a:xfrm>
            <a:off x="6080760" y="1417320"/>
            <a:ext cx="553212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1" name="clay-40-base"/>
          <p:cNvSpPr/>
          <p:nvPr/>
        </p:nvSpPr>
        <p:spPr>
          <a:xfrm>
            <a:off x="6263640" y="1572768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2" name="clay-40-top"/>
          <p:cNvSpPr/>
          <p:nvPr/>
        </p:nvSpPr>
        <p:spPr>
          <a:xfrm>
            <a:off x="6263640" y="1572768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5564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78040" y="15087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Needs one detail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Ambiguous district names (Aurangabad) ask which one, in 0.01 s, before any data is fetched.</a:t>
            </a:r>
            <a:endParaRPr lang="en-US" sz="1300" dirty="0"/>
          </a:p>
        </p:txBody>
      </p:sp>
      <p:sp>
        <p:nvSpPr>
          <p:cNvPr id="15" name="clay-41-base"/>
          <p:cNvSpPr/>
          <p:nvPr/>
        </p:nvSpPr>
        <p:spPr>
          <a:xfrm>
            <a:off x="6080760" y="2633472"/>
            <a:ext cx="553212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6" name="clay-41-top"/>
          <p:cNvSpPr/>
          <p:nvPr/>
        </p:nvSpPr>
        <p:spPr>
          <a:xfrm>
            <a:off x="6080760" y="2633472"/>
            <a:ext cx="553212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7" name="clay-42-base"/>
          <p:cNvSpPr/>
          <p:nvPr/>
        </p:nvSpPr>
        <p:spPr>
          <a:xfrm>
            <a:off x="6263640" y="27889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8" name="clay-42-top"/>
          <p:cNvSpPr/>
          <p:nvPr/>
        </p:nvSpPr>
        <p:spPr>
          <a:xfrm>
            <a:off x="6263640" y="27889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9718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178040" y="272491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Out of scope, by design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"How many cars are parked in Mumbai?" is refused with what SatClip can answer instead.</a:t>
            </a:r>
            <a:endParaRPr lang="en-US" sz="1300" dirty="0"/>
          </a:p>
        </p:txBody>
      </p:sp>
      <p:sp>
        <p:nvSpPr>
          <p:cNvPr id="21" name="clay-43-base"/>
          <p:cNvSpPr/>
          <p:nvPr/>
        </p:nvSpPr>
        <p:spPr>
          <a:xfrm>
            <a:off x="6080760" y="3849624"/>
            <a:ext cx="553212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22" name="clay-43-top"/>
          <p:cNvSpPr/>
          <p:nvPr/>
        </p:nvSpPr>
        <p:spPr>
          <a:xfrm>
            <a:off x="6080760" y="3849624"/>
            <a:ext cx="553212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3" name="clay-44-base"/>
          <p:cNvSpPr/>
          <p:nvPr/>
        </p:nvSpPr>
        <p:spPr>
          <a:xfrm>
            <a:off x="6263640" y="400507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24" name="clay-44-top"/>
          <p:cNvSpPr/>
          <p:nvPr/>
        </p:nvSpPr>
        <p:spPr>
          <a:xfrm>
            <a:off x="6263640" y="400507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18795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78040" y="394106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Accessible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Keyboard path tested end to end, ARIA district picker, light and dark themes, plain-language confidence.</a:t>
            </a:r>
            <a:endParaRPr lang="en-US" sz="1300" dirty="0"/>
          </a:p>
        </p:txBody>
      </p:sp>
      <p:sp>
        <p:nvSpPr>
          <p:cNvPr id="27" name="clay-45-base"/>
          <p:cNvSpPr/>
          <p:nvPr/>
        </p:nvSpPr>
        <p:spPr>
          <a:xfrm>
            <a:off x="6080760" y="5065776"/>
            <a:ext cx="553212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28" name="clay-45-top"/>
          <p:cNvSpPr/>
          <p:nvPr/>
        </p:nvSpPr>
        <p:spPr>
          <a:xfrm>
            <a:off x="6080760" y="5065776"/>
            <a:ext cx="553212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9" name="clay-46-base"/>
          <p:cNvSpPr/>
          <p:nvPr/>
        </p:nvSpPr>
        <p:spPr>
          <a:xfrm>
            <a:off x="6263640" y="5221224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30" name="clay-46-top"/>
          <p:cNvSpPr/>
          <p:nvPr/>
        </p:nvSpPr>
        <p:spPr>
          <a:xfrm>
            <a:off x="6263640" y="5221224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5404104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78040" y="5157216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Indian formats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11/07/2024, "11th July", Hindi month names and Hinglish keywords give the same card as English.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innovation is ease, not a bigger model</a:t>
            </a:r>
            <a:endParaRPr lang="en-US" sz="3400" dirty="0"/>
          </a:p>
        </p:txBody>
      </p:sp>
      <p:sp>
        <p:nvSpPr>
          <p:cNvPr id="3" name="clay-47-base"/>
          <p:cNvSpPr/>
          <p:nvPr/>
        </p:nvSpPr>
        <p:spPr>
          <a:xfrm>
            <a:off x="548640" y="1463040"/>
            <a:ext cx="3520440" cy="3794760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4" name="clay-47-top"/>
          <p:cNvSpPr/>
          <p:nvPr/>
        </p:nvSpPr>
        <p:spPr>
          <a:xfrm>
            <a:off x="548640" y="1463040"/>
            <a:ext cx="3520440" cy="3794760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40"/>
                </a:solidFill>
              </a:rPr>
              <a:t>GIS workflow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40"/>
                </a:solidFill>
              </a:rPr>
              <a:t>Find scenes, check clouds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40"/>
                </a:solidFill>
              </a:rPr>
              <a:t>Download, calibrate, reproject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40"/>
                </a:solidFill>
              </a:rPr>
              <a:t>Threshold, map, measure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40"/>
                </a:solidFill>
              </a:rPr>
              <a:t>Hours to days, needs an analyst</a:t>
            </a:r>
            <a:endParaRPr lang="en-US" sz="1400" dirty="0"/>
          </a:p>
        </p:txBody>
      </p:sp>
      <p:sp>
        <p:nvSpPr>
          <p:cNvPr id="7" name="clay-48-base"/>
          <p:cNvSpPr/>
          <p:nvPr/>
        </p:nvSpPr>
        <p:spPr>
          <a:xfrm>
            <a:off x="868680" y="4526280"/>
            <a:ext cx="2880360" cy="502920"/>
          </a:xfrm>
          <a:prstGeom prst="roundRect">
            <a:avLst>
              <a:gd name="adj" fmla="val 50000"/>
            </a:avLst>
          </a:prstGeom>
          <a:solidFill>
            <a:srgbClr val="EDF0F8"/>
          </a:solidFill>
          <a:ln w="6350">
            <a:solidFill>
              <a:srgbClr val="ED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8" name="clay-48-top"/>
          <p:cNvSpPr/>
          <p:nvPr/>
        </p:nvSpPr>
        <p:spPr>
          <a:xfrm>
            <a:off x="868680" y="4526280"/>
            <a:ext cx="2880360" cy="502920"/>
          </a:xfrm>
          <a:prstGeom prst="roundRect">
            <a:avLst>
              <a:gd name="adj" fmla="val 50000"/>
            </a:avLst>
          </a:prstGeom>
          <a:solidFill>
            <a:srgbClr val="EDF0F8"/>
          </a:solidFill>
          <a:ln w="6350">
            <a:solidFill>
              <a:srgbClr val="EDF0F8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9" name="pill-48"/>
          <p:cNvSpPr txBox="1"/>
          <p:nvPr/>
        </p:nvSpPr>
        <p:spPr>
          <a:xfrm>
            <a:off x="868680" y="4526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40"/>
                </a:solidFill>
              </a:rPr>
              <a:t>Accurate, but out of reach</a:t>
            </a:r>
            <a:endParaRPr lang="en-US" sz="1400" dirty="0"/>
          </a:p>
        </p:txBody>
      </p:sp>
      <p:sp>
        <p:nvSpPr>
          <p:cNvPr id="10" name="clay-49-base"/>
          <p:cNvSpPr/>
          <p:nvPr/>
        </p:nvSpPr>
        <p:spPr>
          <a:xfrm>
            <a:off x="4343400" y="1463040"/>
            <a:ext cx="3520440" cy="3794760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1" name="clay-49-top"/>
          <p:cNvSpPr/>
          <p:nvPr/>
        </p:nvSpPr>
        <p:spPr>
          <a:xfrm>
            <a:off x="4343400" y="1463040"/>
            <a:ext cx="3520440" cy="3794760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2" name="Text 10"/>
          <p:cNvSpPr txBox="1"/>
          <p:nvPr/>
        </p:nvSpPr>
        <p:spPr>
          <a:xfrm>
            <a:off x="4663440" y="1737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40"/>
                </a:solidFill>
              </a:rPr>
              <a:t>Chat with a VLM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3317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40"/>
                </a:solidFill>
              </a:rPr>
              <a:t>Upload an image you already have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40"/>
                </a:solidFill>
              </a:rPr>
              <a:t>Get a fluent paragraph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40"/>
                </a:solidFill>
              </a:rPr>
              <a:t>No scene ID, date or mask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40"/>
                </a:solidFill>
              </a:rPr>
              <a:t>47 to 61% hallucination in RS tests</a:t>
            </a:r>
            <a:endParaRPr lang="en-US" sz="1400" dirty="0"/>
          </a:p>
        </p:txBody>
      </p:sp>
      <p:sp>
        <p:nvSpPr>
          <p:cNvPr id="14" name="clay-50-base"/>
          <p:cNvSpPr/>
          <p:nvPr/>
        </p:nvSpPr>
        <p:spPr>
          <a:xfrm>
            <a:off x="4663440" y="4526280"/>
            <a:ext cx="2880360" cy="502920"/>
          </a:xfrm>
          <a:prstGeom prst="roundRect">
            <a:avLst>
              <a:gd name="adj" fmla="val 50000"/>
            </a:avLst>
          </a:prstGeom>
          <a:solidFill>
            <a:srgbClr val="EDF0F8"/>
          </a:solidFill>
          <a:ln w="6350">
            <a:solidFill>
              <a:srgbClr val="ED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5" name="clay-50-top"/>
          <p:cNvSpPr/>
          <p:nvPr/>
        </p:nvSpPr>
        <p:spPr>
          <a:xfrm>
            <a:off x="4663440" y="4526280"/>
            <a:ext cx="2880360" cy="502920"/>
          </a:xfrm>
          <a:prstGeom prst="roundRect">
            <a:avLst>
              <a:gd name="adj" fmla="val 50000"/>
            </a:avLst>
          </a:prstGeom>
          <a:solidFill>
            <a:srgbClr val="EDF0F8"/>
          </a:solidFill>
          <a:ln w="6350">
            <a:solidFill>
              <a:srgbClr val="EDF0F8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6" name="pill-50"/>
          <p:cNvSpPr txBox="1"/>
          <p:nvPr/>
        </p:nvSpPr>
        <p:spPr>
          <a:xfrm>
            <a:off x="4663440" y="4526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40"/>
                </a:solidFill>
              </a:rPr>
              <a:t>Easy, but unverifiable</a:t>
            </a:r>
            <a:endParaRPr lang="en-US" sz="1400" dirty="0"/>
          </a:p>
        </p:txBody>
      </p:sp>
      <p:sp>
        <p:nvSpPr>
          <p:cNvPr id="17" name="clay-51-base"/>
          <p:cNvSpPr/>
          <p:nvPr/>
        </p:nvSpPr>
        <p:spPr>
          <a:xfrm>
            <a:off x="8138160" y="1463040"/>
            <a:ext cx="3520440" cy="3794760"/>
          </a:xfrm>
          <a:prstGeom prst="roundRect">
            <a:avLst>
              <a:gd name="adj" fmla="val 6494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8" name="clay-51-top"/>
          <p:cNvSpPr/>
          <p:nvPr/>
        </p:nvSpPr>
        <p:spPr>
          <a:xfrm>
            <a:off x="8138160" y="1463040"/>
            <a:ext cx="3520440" cy="3794760"/>
          </a:xfrm>
          <a:prstGeom prst="roundRect">
            <a:avLst>
              <a:gd name="adj" fmla="val 6494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9" name="Text 17"/>
          <p:cNvSpPr txBox="1"/>
          <p:nvPr/>
        </p:nvSpPr>
        <p:spPr>
          <a:xfrm>
            <a:off x="8458200" y="1737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40"/>
                </a:solidFill>
              </a:rPr>
              <a:t>SatClip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23317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40"/>
                </a:solidFill>
              </a:rPr>
              <a:t>Type the question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40"/>
                </a:solidFill>
              </a:rPr>
              <a:t>Scenes found, radar if cloudy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40"/>
                </a:solidFill>
              </a:rPr>
              <a:t>Number, map, confidence, receipt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40"/>
                </a:solidFill>
              </a:rPr>
              <a:t>About a minute on a CPU</a:t>
            </a:r>
            <a:endParaRPr lang="en-US" sz="1400" dirty="0"/>
          </a:p>
        </p:txBody>
      </p:sp>
      <p:sp>
        <p:nvSpPr>
          <p:cNvPr id="21" name="clay-52-base"/>
          <p:cNvSpPr/>
          <p:nvPr/>
        </p:nvSpPr>
        <p:spPr>
          <a:xfrm>
            <a:off x="8458200" y="4526280"/>
            <a:ext cx="28803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22" name="clay-52-top"/>
          <p:cNvSpPr/>
          <p:nvPr/>
        </p:nvSpPr>
        <p:spPr>
          <a:xfrm>
            <a:off x="8458200" y="4526280"/>
            <a:ext cx="28803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3" name="pill-52"/>
          <p:cNvSpPr txBox="1"/>
          <p:nvPr/>
        </p:nvSpPr>
        <p:spPr>
          <a:xfrm>
            <a:off x="8458200" y="4526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40"/>
                </a:solidFill>
              </a:rPr>
              <a:t>Easy and checkable</a:t>
            </a:r>
            <a:endParaRPr lang="en-US" sz="1400" dirty="0"/>
          </a:p>
        </p:txBody>
      </p:sp>
      <p:sp>
        <p:nvSpPr>
          <p:cNvPr id="24" name="clay-53-base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25000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25" name="clay-53-top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25000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6" name="Text 24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40"/>
                </a:solidFill>
              </a:rPr>
              <a:t>Free-form EO agents pick the right tool parameters only 26 to 35% of the time. SatClip's fixed router to versioned instruments cannot make that error.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card can be trusted, measured</a:t>
            </a:r>
            <a:endParaRPr lang="en-US" sz="3400" dirty="0"/>
          </a:p>
        </p:txBody>
      </p:sp>
      <p:sp>
        <p:nvSpPr>
          <p:cNvPr id="3" name="clay-54-base"/>
          <p:cNvSpPr/>
          <p:nvPr/>
        </p:nvSpPr>
        <p:spPr>
          <a:xfrm>
            <a:off x="548640" y="1417320"/>
            <a:ext cx="6583680" cy="475488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4" name="clay-54-top"/>
          <p:cNvSpPr/>
          <p:nvPr/>
        </p:nvSpPr>
        <p:spPr>
          <a:xfrm>
            <a:off x="548640" y="1417320"/>
            <a:ext cx="6583680" cy="475488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554480"/>
          <a:ext cx="62179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lay-55-base"/>
          <p:cNvSpPr/>
          <p:nvPr/>
        </p:nvSpPr>
        <p:spPr>
          <a:xfrm>
            <a:off x="7406640" y="1417320"/>
            <a:ext cx="420624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7" name="clay-55-top"/>
          <p:cNvSpPr/>
          <p:nvPr/>
        </p:nvSpPr>
        <p:spPr>
          <a:xfrm>
            <a:off x="7406640" y="1417320"/>
            <a:ext cx="420624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8" name="clay-56-base"/>
          <p:cNvSpPr/>
          <p:nvPr/>
        </p:nvSpPr>
        <p:spPr>
          <a:xfrm>
            <a:off x="7589520" y="1719072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9" name="clay-56-top"/>
          <p:cNvSpPr/>
          <p:nvPr/>
        </p:nvSpPr>
        <p:spPr>
          <a:xfrm>
            <a:off x="7589520" y="1719072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830" y="1913382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549640" y="1554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Calibrated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Water ECE 0.074; change ECE 0.214 to 0.041 with per-regime maps</a:t>
            </a:r>
            <a:endParaRPr lang="en-US" sz="1300" dirty="0"/>
          </a:p>
        </p:txBody>
      </p:sp>
      <p:sp>
        <p:nvSpPr>
          <p:cNvPr id="12" name="clay-57-base"/>
          <p:cNvSpPr/>
          <p:nvPr/>
        </p:nvSpPr>
        <p:spPr>
          <a:xfrm>
            <a:off x="7406640" y="3044952"/>
            <a:ext cx="420624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3" name="clay-57-top"/>
          <p:cNvSpPr/>
          <p:nvPr/>
        </p:nvSpPr>
        <p:spPr>
          <a:xfrm>
            <a:off x="7406640" y="3044952"/>
            <a:ext cx="420624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4" name="clay-58-base"/>
          <p:cNvSpPr/>
          <p:nvPr/>
        </p:nvSpPr>
        <p:spPr>
          <a:xfrm>
            <a:off x="7589520" y="3346704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5" name="clay-58-top"/>
          <p:cNvSpPr/>
          <p:nvPr/>
        </p:nvSpPr>
        <p:spPr>
          <a:xfrm>
            <a:off x="7589520" y="3346704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30" y="3541014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49640" y="318211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Abstains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Below 0.60 no number is published, and the card says what would help</a:t>
            </a:r>
            <a:endParaRPr lang="en-US" sz="1300" dirty="0"/>
          </a:p>
        </p:txBody>
      </p:sp>
      <p:sp>
        <p:nvSpPr>
          <p:cNvPr id="18" name="clay-59-base"/>
          <p:cNvSpPr/>
          <p:nvPr/>
        </p:nvSpPr>
        <p:spPr>
          <a:xfrm>
            <a:off x="7406640" y="4672584"/>
            <a:ext cx="420624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9" name="clay-59-top"/>
          <p:cNvSpPr/>
          <p:nvPr/>
        </p:nvSpPr>
        <p:spPr>
          <a:xfrm>
            <a:off x="7406640" y="4672584"/>
            <a:ext cx="420624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0" name="clay-60-base"/>
          <p:cNvSpPr/>
          <p:nvPr/>
        </p:nvSpPr>
        <p:spPr>
          <a:xfrm>
            <a:off x="7589520" y="4974336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21" name="clay-60-top"/>
          <p:cNvSpPr/>
          <p:nvPr/>
        </p:nvSpPr>
        <p:spPr>
          <a:xfrm>
            <a:off x="7589520" y="4974336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830" y="5168646"/>
            <a:ext cx="388620" cy="3886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549640" y="4809744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Reproducible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8 of 8 demo receipts (713 tiles) re-ran to identical outputs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out, or runs offline on state servers</a:t>
            </a:r>
            <a:endParaRPr lang="en-US" sz="3400" dirty="0"/>
          </a:p>
        </p:txBody>
      </p:sp>
      <p:sp>
        <p:nvSpPr>
          <p:cNvPr id="3" name="clay-61-base"/>
          <p:cNvSpPr/>
          <p:nvPr/>
        </p:nvSpPr>
        <p:spPr>
          <a:xfrm>
            <a:off x="548640" y="1463040"/>
            <a:ext cx="2011680" cy="1417320"/>
          </a:xfrm>
          <a:prstGeom prst="roundRect">
            <a:avLst>
              <a:gd name="adj" fmla="val 16129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4" name="clay-61-top"/>
          <p:cNvSpPr/>
          <p:nvPr/>
        </p:nvSpPr>
        <p:spPr>
          <a:xfrm>
            <a:off x="548640" y="1463040"/>
            <a:ext cx="2011680" cy="1417320"/>
          </a:xfrm>
          <a:prstGeom prst="roundRect">
            <a:avLst>
              <a:gd name="adj" fmla="val 16129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600200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Web UI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Phone first, no build step</a:t>
            </a:r>
            <a:endParaRPr lang="en-US" sz="1300" dirty="0"/>
          </a:p>
        </p:txBody>
      </p:sp>
      <p:sp>
        <p:nvSpPr>
          <p:cNvPr id="6" name="arrow-0"/>
          <p:cNvSpPr/>
          <p:nvPr/>
        </p:nvSpPr>
        <p:spPr>
          <a:xfrm>
            <a:off x="2596896" y="2011680"/>
            <a:ext cx="182880" cy="320040"/>
          </a:xfrm>
          <a:prstGeom prst="rightArrow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7" name="clay-62-base"/>
          <p:cNvSpPr/>
          <p:nvPr/>
        </p:nvSpPr>
        <p:spPr>
          <a:xfrm>
            <a:off x="2816352" y="1463040"/>
            <a:ext cx="2011680" cy="1417320"/>
          </a:xfrm>
          <a:prstGeom prst="roundRect">
            <a:avLst>
              <a:gd name="adj" fmla="val 16129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8" name="clay-62-top"/>
          <p:cNvSpPr/>
          <p:nvPr/>
        </p:nvSpPr>
        <p:spPr>
          <a:xfrm>
            <a:off x="2816352" y="1463040"/>
            <a:ext cx="2011680" cy="1417320"/>
          </a:xfrm>
          <a:prstGeom prst="roundRect">
            <a:avLst>
              <a:gd name="adj" fmla="val 16129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9" name="Text 7"/>
          <p:cNvSpPr txBox="1"/>
          <p:nvPr/>
        </p:nvSpPr>
        <p:spPr>
          <a:xfrm>
            <a:off x="2980944" y="1600200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Stateless API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FastAPI; parse, route, cache</a:t>
            </a:r>
            <a:endParaRPr lang="en-US" sz="1300" dirty="0"/>
          </a:p>
        </p:txBody>
      </p:sp>
      <p:sp>
        <p:nvSpPr>
          <p:cNvPr id="10" name="arrow-1"/>
          <p:cNvSpPr/>
          <p:nvPr/>
        </p:nvSpPr>
        <p:spPr>
          <a:xfrm>
            <a:off x="4864608" y="2011680"/>
            <a:ext cx="182880" cy="320040"/>
          </a:xfrm>
          <a:prstGeom prst="rightArrow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11" name="clay-63-base"/>
          <p:cNvSpPr/>
          <p:nvPr/>
        </p:nvSpPr>
        <p:spPr>
          <a:xfrm>
            <a:off x="5084064" y="1463040"/>
            <a:ext cx="2011680" cy="1417320"/>
          </a:xfrm>
          <a:prstGeom prst="roundRect">
            <a:avLst>
              <a:gd name="adj" fmla="val 16129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2" name="clay-63-top"/>
          <p:cNvSpPr/>
          <p:nvPr/>
        </p:nvSpPr>
        <p:spPr>
          <a:xfrm>
            <a:off x="5084064" y="1463040"/>
            <a:ext cx="2011680" cy="1417320"/>
          </a:xfrm>
          <a:prstGeom prst="roundRect">
            <a:avLst>
              <a:gd name="adj" fmla="val 16129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3" name="Text 11"/>
          <p:cNvSpPr txBox="1"/>
          <p:nvPr/>
        </p:nvSpPr>
        <p:spPr>
          <a:xfrm>
            <a:off x="5248656" y="1600200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Tile queue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Redis lists, one job = many tiles</a:t>
            </a:r>
            <a:endParaRPr lang="en-US" sz="1300" dirty="0"/>
          </a:p>
        </p:txBody>
      </p:sp>
      <p:sp>
        <p:nvSpPr>
          <p:cNvPr id="14" name="arrow-2"/>
          <p:cNvSpPr/>
          <p:nvPr/>
        </p:nvSpPr>
        <p:spPr>
          <a:xfrm>
            <a:off x="7132320" y="2011680"/>
            <a:ext cx="182880" cy="320040"/>
          </a:xfrm>
          <a:prstGeom prst="rightArrow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15" name="clay-64-base"/>
          <p:cNvSpPr/>
          <p:nvPr/>
        </p:nvSpPr>
        <p:spPr>
          <a:xfrm>
            <a:off x="7351776" y="1463040"/>
            <a:ext cx="2011680" cy="1417320"/>
          </a:xfrm>
          <a:prstGeom prst="roundRect">
            <a:avLst>
              <a:gd name="adj" fmla="val 16129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6" name="clay-64-top"/>
          <p:cNvSpPr/>
          <p:nvPr/>
        </p:nvSpPr>
        <p:spPr>
          <a:xfrm>
            <a:off x="7351776" y="1463040"/>
            <a:ext cx="2011680" cy="1417320"/>
          </a:xfrm>
          <a:prstGeom prst="roundRect">
            <a:avLst>
              <a:gd name="adj" fmla="val 16129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7" name="Text 15"/>
          <p:cNvSpPr txBox="1"/>
          <p:nvPr/>
        </p:nvSpPr>
        <p:spPr>
          <a:xfrm>
            <a:off x="7516368" y="1600200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Workers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Instruments on COG windows</a:t>
            </a:r>
            <a:endParaRPr lang="en-US" sz="1300" dirty="0"/>
          </a:p>
        </p:txBody>
      </p:sp>
      <p:sp>
        <p:nvSpPr>
          <p:cNvPr id="18" name="arrow-3"/>
          <p:cNvSpPr/>
          <p:nvPr/>
        </p:nvSpPr>
        <p:spPr>
          <a:xfrm>
            <a:off x="9400032" y="2011680"/>
            <a:ext cx="182880" cy="320040"/>
          </a:xfrm>
          <a:prstGeom prst="rightArrow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19" name="clay-65-base"/>
          <p:cNvSpPr/>
          <p:nvPr/>
        </p:nvSpPr>
        <p:spPr>
          <a:xfrm>
            <a:off x="9619488" y="1463040"/>
            <a:ext cx="2011680" cy="1417320"/>
          </a:xfrm>
          <a:prstGeom prst="roundRect">
            <a:avLst>
              <a:gd name="adj" fmla="val 16129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20" name="clay-65-top"/>
          <p:cNvSpPr/>
          <p:nvPr/>
        </p:nvSpPr>
        <p:spPr>
          <a:xfrm>
            <a:off x="9619488" y="1463040"/>
            <a:ext cx="2011680" cy="1417320"/>
          </a:xfrm>
          <a:prstGeom prst="roundRect">
            <a:avLst>
              <a:gd name="adj" fmla="val 16129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1" name="Text 19"/>
          <p:cNvSpPr txBox="1"/>
          <p:nvPr/>
        </p:nvSpPr>
        <p:spPr>
          <a:xfrm>
            <a:off x="9784080" y="1600200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Public STAC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Planetary Computer, Earth Search, CDSE</a:t>
            </a:r>
            <a:endParaRPr lang="en-US" sz="1300" dirty="0"/>
          </a:p>
        </p:txBody>
      </p:sp>
      <p:sp>
        <p:nvSpPr>
          <p:cNvPr id="22" name="clay-66-base"/>
          <p:cNvSpPr/>
          <p:nvPr/>
        </p:nvSpPr>
        <p:spPr>
          <a:xfrm>
            <a:off x="548640" y="3200400"/>
            <a:ext cx="6035040" cy="2971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23" name="clay-66-top"/>
          <p:cNvSpPr/>
          <p:nvPr/>
        </p:nvSpPr>
        <p:spPr>
          <a:xfrm>
            <a:off x="548640" y="3200400"/>
            <a:ext cx="6035040" cy="2971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graphicFrame>
        <p:nvGraphicFramePr>
          <p:cNvPr id="24" name="Chart 0" descr=""/>
          <p:cNvGraphicFramePr/>
          <p:nvPr/>
        </p:nvGraphicFramePr>
        <p:xfrm>
          <a:off x="731520" y="3291840"/>
          <a:ext cx="56692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clay-67-base"/>
          <p:cNvSpPr/>
          <p:nvPr/>
        </p:nvSpPr>
        <p:spPr>
          <a:xfrm>
            <a:off x="6858000" y="3200400"/>
            <a:ext cx="47548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26" name="clay-67-top"/>
          <p:cNvSpPr/>
          <p:nvPr/>
        </p:nvSpPr>
        <p:spPr>
          <a:xfrm>
            <a:off x="6858000" y="3200400"/>
            <a:ext cx="47548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7" name="Text 24"/>
          <p:cNvSpPr txBox="1"/>
          <p:nvPr/>
        </p:nvSpPr>
        <p:spPr>
          <a:xfrm>
            <a:off x="7040880" y="3246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Near-linear scale-out: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Reads dominate; adding workers adds throughput</a:t>
            </a:r>
            <a:endParaRPr lang="en-US" sz="1300" dirty="0"/>
          </a:p>
        </p:txBody>
      </p:sp>
      <p:sp>
        <p:nvSpPr>
          <p:cNvPr id="28" name="clay-68-base"/>
          <p:cNvSpPr/>
          <p:nvPr/>
        </p:nvSpPr>
        <p:spPr>
          <a:xfrm>
            <a:off x="6858000" y="3959352"/>
            <a:ext cx="47548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29" name="clay-68-top"/>
          <p:cNvSpPr/>
          <p:nvPr/>
        </p:nvSpPr>
        <p:spPr>
          <a:xfrm>
            <a:off x="6858000" y="3959352"/>
            <a:ext cx="47548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30" name="Text 27"/>
          <p:cNvSpPr txBox="1"/>
          <p:nvPr/>
        </p:nvSpPr>
        <p:spPr>
          <a:xfrm>
            <a:off x="7040880" y="40050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Cheap per worker: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About 86 MB RAM each; Redis 13 MB</a:t>
            </a:r>
            <a:endParaRPr lang="en-US" sz="1300" dirty="0"/>
          </a:p>
        </p:txBody>
      </p:sp>
      <p:sp>
        <p:nvSpPr>
          <p:cNvPr id="31" name="clay-69-base"/>
          <p:cNvSpPr/>
          <p:nvPr/>
        </p:nvSpPr>
        <p:spPr>
          <a:xfrm>
            <a:off x="6858000" y="4718304"/>
            <a:ext cx="47548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32" name="clay-69-top"/>
          <p:cNvSpPr/>
          <p:nvPr/>
        </p:nvSpPr>
        <p:spPr>
          <a:xfrm>
            <a:off x="6858000" y="4718304"/>
            <a:ext cx="47548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33" name="Text 30"/>
          <p:cNvSpPr txBox="1"/>
          <p:nvPr/>
        </p:nvSpPr>
        <p:spPr>
          <a:xfrm>
            <a:off x="7040880" y="47640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Fast repeats: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Warm 144-tile job in 0.01 to 0.2 s</a:t>
            </a:r>
            <a:endParaRPr lang="en-US" sz="1300" dirty="0"/>
          </a:p>
        </p:txBody>
      </p:sp>
      <p:sp>
        <p:nvSpPr>
          <p:cNvPr id="34" name="clay-70-base"/>
          <p:cNvSpPr/>
          <p:nvPr/>
        </p:nvSpPr>
        <p:spPr>
          <a:xfrm>
            <a:off x="6858000" y="5477256"/>
            <a:ext cx="47548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35" name="clay-70-top"/>
          <p:cNvSpPr/>
          <p:nvPr/>
        </p:nvSpPr>
        <p:spPr>
          <a:xfrm>
            <a:off x="6858000" y="5477256"/>
            <a:ext cx="47548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36" name="Text 33"/>
          <p:cNvSpPr txBox="1"/>
          <p:nvPr/>
        </p:nvSpPr>
        <p:spPr>
          <a:xfrm>
            <a:off x="7040880" y="55229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Offline ready: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Docker compose; point STAC at an on-prem mirror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 papers read: nobody combines all of it yet</a:t>
            </a:r>
            <a:endParaRPr lang="en-US" sz="3400" dirty="0"/>
          </a:p>
        </p:txBody>
      </p:sp>
      <p:sp>
        <p:nvSpPr>
          <p:cNvPr id="3" name="clay-71-base"/>
          <p:cNvSpPr/>
          <p:nvPr/>
        </p:nvSpPr>
        <p:spPr>
          <a:xfrm>
            <a:off x="548640" y="1417320"/>
            <a:ext cx="5486400" cy="475488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4" name="clay-71-top"/>
          <p:cNvSpPr/>
          <p:nvPr/>
        </p:nvSpPr>
        <p:spPr>
          <a:xfrm>
            <a:off x="548640" y="1417320"/>
            <a:ext cx="5486400" cy="475488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508760"/>
          <a:ext cx="5212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lay-72-base"/>
          <p:cNvSpPr/>
          <p:nvPr/>
        </p:nvSpPr>
        <p:spPr>
          <a:xfrm>
            <a:off x="6309360" y="1417320"/>
            <a:ext cx="530352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7" name="clay-72-top"/>
          <p:cNvSpPr/>
          <p:nvPr/>
        </p:nvSpPr>
        <p:spPr>
          <a:xfrm>
            <a:off x="6309360" y="1417320"/>
            <a:ext cx="530352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8" name="Text 5"/>
          <p:cNvSpPr txBox="1"/>
          <p:nvPr/>
        </p:nvSpPr>
        <p:spPr>
          <a:xfrm>
            <a:off x="6492240" y="1472184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VisTA (2024):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has change answers with masks; no confidence, no live data</a:t>
            </a:r>
            <a:endParaRPr lang="en-US" sz="1300" dirty="0"/>
          </a:p>
        </p:txBody>
      </p:sp>
      <p:sp>
        <p:nvSpPr>
          <p:cNvPr id="9" name="clay-73-base"/>
          <p:cNvSpPr/>
          <p:nvPr/>
        </p:nvSpPr>
        <p:spPr>
          <a:xfrm>
            <a:off x="6309360" y="2377440"/>
            <a:ext cx="530352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0" name="clay-73-top"/>
          <p:cNvSpPr/>
          <p:nvPr/>
        </p:nvSpPr>
        <p:spPr>
          <a:xfrm>
            <a:off x="6309360" y="2377440"/>
            <a:ext cx="530352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1" name="Text 8"/>
          <p:cNvSpPr txBox="1"/>
          <p:nvPr/>
        </p:nvSpPr>
        <p:spPr>
          <a:xfrm>
            <a:off x="6492240" y="2432304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EO-Gym (2026):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has switches optical to SAR; no abstention or receipts</a:t>
            </a:r>
            <a:endParaRPr lang="en-US" sz="1300" dirty="0"/>
          </a:p>
        </p:txBody>
      </p:sp>
      <p:sp>
        <p:nvSpPr>
          <p:cNvPr id="12" name="clay-74-base"/>
          <p:cNvSpPr/>
          <p:nvPr/>
        </p:nvSpPr>
        <p:spPr>
          <a:xfrm>
            <a:off x="6309360" y="3337560"/>
            <a:ext cx="530352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3" name="clay-74-top"/>
          <p:cNvSpPr/>
          <p:nvPr/>
        </p:nvSpPr>
        <p:spPr>
          <a:xfrm>
            <a:off x="6309360" y="3337560"/>
            <a:ext cx="530352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4" name="Text 11"/>
          <p:cNvSpPr txBox="1"/>
          <p:nvPr/>
        </p:nvSpPr>
        <p:spPr>
          <a:xfrm>
            <a:off x="6492240" y="3392424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SHRUG-FM (2026):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has rejects unreliable flood maps; scores not calibrated, optical</a:t>
            </a:r>
            <a:endParaRPr lang="en-US" sz="1300" dirty="0"/>
          </a:p>
        </p:txBody>
      </p:sp>
      <p:sp>
        <p:nvSpPr>
          <p:cNvPr id="15" name="clay-75-base"/>
          <p:cNvSpPr/>
          <p:nvPr/>
        </p:nvSpPr>
        <p:spPr>
          <a:xfrm>
            <a:off x="6309360" y="4297680"/>
            <a:ext cx="530352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6" name="clay-75-top"/>
          <p:cNvSpPr/>
          <p:nvPr/>
        </p:nvSpPr>
        <p:spPr>
          <a:xfrm>
            <a:off x="6309360" y="4297680"/>
            <a:ext cx="530352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7" name="Text 14"/>
          <p:cNvSpPr txBox="1"/>
          <p:nvPr/>
        </p:nvSpPr>
        <p:spPr>
          <a:xfrm>
            <a:off x="6492240" y="4352544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UnivEARTH (2026):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has agents fetch live imagery; best 64.5% accuracy, never abstains</a:t>
            </a:r>
            <a:endParaRPr lang="en-US" sz="1300" dirty="0"/>
          </a:p>
        </p:txBody>
      </p:sp>
      <p:sp>
        <p:nvSpPr>
          <p:cNvPr id="18" name="clay-76-base"/>
          <p:cNvSpPr/>
          <p:nvPr/>
        </p:nvSpPr>
        <p:spPr>
          <a:xfrm>
            <a:off x="6309360" y="5257800"/>
            <a:ext cx="530352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9" name="clay-76-top"/>
          <p:cNvSpPr/>
          <p:nvPr/>
        </p:nvSpPr>
        <p:spPr>
          <a:xfrm>
            <a:off x="6309360" y="5257800"/>
            <a:ext cx="530352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0" name="Text 17"/>
          <p:cNvSpPr txBox="1"/>
          <p:nvPr/>
        </p:nvSpPr>
        <p:spPr>
          <a:xfrm>
            <a:off x="6492240" y="5312664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40"/>
                </a:solidFill>
              </a:rPr>
              <a:t>TerraScope (2026):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40"/>
                </a:solidFill>
              </a:rPr>
              <a:t>has pixel-grounded area answers; GPU, no calibration or provenance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do yet, and what comes next</a:t>
            </a:r>
            <a:endParaRPr lang="en-US" sz="3400" dirty="0"/>
          </a:p>
        </p:txBody>
      </p:sp>
      <p:sp>
        <p:nvSpPr>
          <p:cNvPr id="3" name="clay-77-base"/>
          <p:cNvSpPr/>
          <p:nvPr/>
        </p:nvSpPr>
        <p:spPr>
          <a:xfrm>
            <a:off x="548640" y="1417320"/>
            <a:ext cx="5120640" cy="4754880"/>
          </a:xfrm>
          <a:prstGeom prst="roundRect">
            <a:avLst>
              <a:gd name="adj" fmla="val 4808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4" name="clay-77-top"/>
          <p:cNvSpPr/>
          <p:nvPr/>
        </p:nvSpPr>
        <p:spPr>
          <a:xfrm>
            <a:off x="548640" y="1417320"/>
            <a:ext cx="5120640" cy="4754880"/>
          </a:xfrm>
          <a:prstGeom prst="roundRect">
            <a:avLst>
              <a:gd name="adj" fmla="val 4808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940"/>
                </a:solidFill>
              </a:rPr>
              <a:t>Known limits, stated on the card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40"/>
                </a:solidFill>
              </a:rPr>
              <a:t>Flood extent includes rivers, wetlands and paddy (no HAND terrain mask yet)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40"/>
                </a:solidFill>
              </a:rPr>
              <a:t>Urban flooding is missed by radar intensity alone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40"/>
                </a:solidFill>
              </a:rPr>
              <a:t>Crop-change confidence is a placeholder: no open Indian labels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40"/>
                </a:solidFill>
              </a:rPr>
              <a:t>Flood change areas are often undercounted, so they abstain</a:t>
            </a:r>
            <a:endParaRPr lang="en-US" sz="1500" dirty="0"/>
          </a:p>
        </p:txBody>
      </p:sp>
      <p:sp>
        <p:nvSpPr>
          <p:cNvPr id="7" name="clay-78-base"/>
          <p:cNvSpPr/>
          <p:nvPr/>
        </p:nvSpPr>
        <p:spPr>
          <a:xfrm>
            <a:off x="5943600" y="1417320"/>
            <a:ext cx="5669280" cy="1051560"/>
          </a:xfrm>
          <a:prstGeom prst="roundRect">
            <a:avLst>
              <a:gd name="adj" fmla="val 17391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8" name="clay-78-top"/>
          <p:cNvSpPr/>
          <p:nvPr/>
        </p:nvSpPr>
        <p:spPr>
          <a:xfrm>
            <a:off x="5943600" y="1417320"/>
            <a:ext cx="5669280" cy="1051560"/>
          </a:xfrm>
          <a:prstGeom prst="roundRect">
            <a:avLst>
              <a:gd name="adj" fmla="val 17391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9" name="clay-79-base"/>
          <p:cNvSpPr/>
          <p:nvPr/>
        </p:nvSpPr>
        <p:spPr>
          <a:xfrm>
            <a:off x="6126480" y="1691640"/>
            <a:ext cx="10972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0" name="clay-79-top"/>
          <p:cNvSpPr/>
          <p:nvPr/>
        </p:nvSpPr>
        <p:spPr>
          <a:xfrm>
            <a:off x="6126480" y="1691640"/>
            <a:ext cx="10972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1" name="pill-79"/>
          <p:cNvSpPr txBox="1"/>
          <p:nvPr/>
        </p:nvSpPr>
        <p:spPr>
          <a:xfrm>
            <a:off x="6126480" y="1691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40"/>
                </a:solidFill>
              </a:rPr>
              <a:t>Next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5087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40"/>
                </a:solidFill>
              </a:rPr>
              <a:t>HAND and permanent-water exclusion mask; per-pixel water probability</a:t>
            </a:r>
            <a:endParaRPr lang="en-US" sz="1400" dirty="0"/>
          </a:p>
        </p:txBody>
      </p:sp>
      <p:sp>
        <p:nvSpPr>
          <p:cNvPr id="13" name="clay-80-base"/>
          <p:cNvSpPr/>
          <p:nvPr/>
        </p:nvSpPr>
        <p:spPr>
          <a:xfrm>
            <a:off x="5943600" y="2633472"/>
            <a:ext cx="5669280" cy="1051560"/>
          </a:xfrm>
          <a:prstGeom prst="roundRect">
            <a:avLst>
              <a:gd name="adj" fmla="val 17391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4" name="clay-80-top"/>
          <p:cNvSpPr/>
          <p:nvPr/>
        </p:nvSpPr>
        <p:spPr>
          <a:xfrm>
            <a:off x="5943600" y="2633472"/>
            <a:ext cx="5669280" cy="1051560"/>
          </a:xfrm>
          <a:prstGeom prst="roundRect">
            <a:avLst>
              <a:gd name="adj" fmla="val 17391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5" name="clay-81-base"/>
          <p:cNvSpPr/>
          <p:nvPr/>
        </p:nvSpPr>
        <p:spPr>
          <a:xfrm>
            <a:off x="6126480" y="2907792"/>
            <a:ext cx="10972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6" name="clay-81-top"/>
          <p:cNvSpPr/>
          <p:nvPr/>
        </p:nvSpPr>
        <p:spPr>
          <a:xfrm>
            <a:off x="6126480" y="2907792"/>
            <a:ext cx="10972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7" name="pill-81"/>
          <p:cNvSpPr txBox="1"/>
          <p:nvPr/>
        </p:nvSpPr>
        <p:spPr>
          <a:xfrm>
            <a:off x="6126480" y="29077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40"/>
                </a:solidFill>
              </a:rPr>
              <a:t>Then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72491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40"/>
                </a:solidFill>
              </a:rPr>
              <a:t>LoRA intent parser trained on Colab; Hindi district names</a:t>
            </a:r>
            <a:endParaRPr lang="en-US" sz="1400" dirty="0"/>
          </a:p>
        </p:txBody>
      </p:sp>
      <p:sp>
        <p:nvSpPr>
          <p:cNvPr id="19" name="clay-82-base"/>
          <p:cNvSpPr/>
          <p:nvPr/>
        </p:nvSpPr>
        <p:spPr>
          <a:xfrm>
            <a:off x="5943600" y="3849624"/>
            <a:ext cx="5669280" cy="1051560"/>
          </a:xfrm>
          <a:prstGeom prst="roundRect">
            <a:avLst>
              <a:gd name="adj" fmla="val 17391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20" name="clay-82-top"/>
          <p:cNvSpPr/>
          <p:nvPr/>
        </p:nvSpPr>
        <p:spPr>
          <a:xfrm>
            <a:off x="5943600" y="3849624"/>
            <a:ext cx="5669280" cy="1051560"/>
          </a:xfrm>
          <a:prstGeom prst="roundRect">
            <a:avLst>
              <a:gd name="adj" fmla="val 17391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1" name="clay-83-base"/>
          <p:cNvSpPr/>
          <p:nvPr/>
        </p:nvSpPr>
        <p:spPr>
          <a:xfrm>
            <a:off x="6126480" y="4123944"/>
            <a:ext cx="10972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22" name="clay-83-top"/>
          <p:cNvSpPr/>
          <p:nvPr/>
        </p:nvSpPr>
        <p:spPr>
          <a:xfrm>
            <a:off x="6126480" y="4123944"/>
            <a:ext cx="10972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3" name="pill-83"/>
          <p:cNvSpPr txBox="1"/>
          <p:nvPr/>
        </p:nvSpPr>
        <p:spPr>
          <a:xfrm>
            <a:off x="6126480" y="41239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40"/>
                </a:solidFill>
              </a:rPr>
              <a:t>Pilot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394106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40"/>
                </a:solidFill>
              </a:rPr>
              <a:t>One district disaster office in Assam or Bihar through a monsoon</a:t>
            </a:r>
            <a:endParaRPr lang="en-US" sz="1400" dirty="0"/>
          </a:p>
        </p:txBody>
      </p:sp>
      <p:sp>
        <p:nvSpPr>
          <p:cNvPr id="25" name="clay-84-base"/>
          <p:cNvSpPr/>
          <p:nvPr/>
        </p:nvSpPr>
        <p:spPr>
          <a:xfrm>
            <a:off x="5943600" y="5065776"/>
            <a:ext cx="566928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26" name="clay-84-top"/>
          <p:cNvSpPr/>
          <p:nvPr/>
        </p:nvSpPr>
        <p:spPr>
          <a:xfrm>
            <a:off x="5943600" y="5065776"/>
            <a:ext cx="566928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7" name="clay-85-base"/>
          <p:cNvSpPr/>
          <p:nvPr/>
        </p:nvSpPr>
        <p:spPr>
          <a:xfrm>
            <a:off x="6126480" y="5340096"/>
            <a:ext cx="10972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28" name="clay-85-top"/>
          <p:cNvSpPr/>
          <p:nvPr/>
        </p:nvSpPr>
        <p:spPr>
          <a:xfrm>
            <a:off x="6126480" y="5340096"/>
            <a:ext cx="10972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9" name="pill-85"/>
          <p:cNvSpPr txBox="1"/>
          <p:nvPr/>
        </p:nvSpPr>
        <p:spPr>
          <a:xfrm>
            <a:off x="6126480" y="53400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40"/>
                </a:solidFill>
              </a:rPr>
              <a:t>Scale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5157216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40"/>
                </a:solidFill>
              </a:rPr>
              <a:t>On-prem STAC mirror on state infrastructure; more instruments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Stardust</a:t>
            </a:r>
            <a:endParaRPr lang="en-US" sz="3400" dirty="0"/>
          </a:p>
        </p:txBody>
      </p:sp>
      <p:sp>
        <p:nvSpPr>
          <p:cNvPr id="3" name="clay-86-base"/>
          <p:cNvSpPr/>
          <p:nvPr/>
        </p:nvSpPr>
        <p:spPr>
          <a:xfrm>
            <a:off x="548640" y="1554480"/>
            <a:ext cx="352044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4" name="clay-86-top"/>
          <p:cNvSpPr/>
          <p:nvPr/>
        </p:nvSpPr>
        <p:spPr>
          <a:xfrm>
            <a:off x="548640" y="1554480"/>
            <a:ext cx="352044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5" name="clay-87-base"/>
          <p:cNvSpPr/>
          <p:nvPr/>
        </p:nvSpPr>
        <p:spPr>
          <a:xfrm>
            <a:off x="868680" y="196596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6" name="clay-87-top"/>
          <p:cNvSpPr/>
          <p:nvPr/>
        </p:nvSpPr>
        <p:spPr>
          <a:xfrm>
            <a:off x="868680" y="196596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3467"/>
                </a:solidFill>
              </a:rPr>
              <a:t>SB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9659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940"/>
                </a:solidFill>
              </a:rPr>
              <a:t>Sai Bhuwan S</a:t>
            </a:r>
            <a:endParaRPr lang="en-US" sz="1800" dirty="0"/>
          </a:p>
        </p:txBody>
      </p:sp>
      <p:sp>
        <p:nvSpPr>
          <p:cNvPr id="9" name="clay-88-base"/>
          <p:cNvSpPr/>
          <p:nvPr/>
        </p:nvSpPr>
        <p:spPr>
          <a:xfrm>
            <a:off x="4343400" y="1554480"/>
            <a:ext cx="352044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0" name="clay-88-top"/>
          <p:cNvSpPr/>
          <p:nvPr/>
        </p:nvSpPr>
        <p:spPr>
          <a:xfrm>
            <a:off x="4343400" y="1554480"/>
            <a:ext cx="352044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1" name="clay-89-base"/>
          <p:cNvSpPr/>
          <p:nvPr/>
        </p:nvSpPr>
        <p:spPr>
          <a:xfrm>
            <a:off x="4663440" y="196596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2" name="clay-89-top"/>
          <p:cNvSpPr/>
          <p:nvPr/>
        </p:nvSpPr>
        <p:spPr>
          <a:xfrm>
            <a:off x="4663440" y="196596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3" name="Text 11"/>
          <p:cNvSpPr txBox="1"/>
          <p:nvPr/>
        </p:nvSpPr>
        <p:spPr>
          <a:xfrm>
            <a:off x="466344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3467"/>
                </a:solidFill>
              </a:rPr>
              <a:t>YM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19659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940"/>
                </a:solidFill>
              </a:rPr>
              <a:t>Yashita Mandavilli</a:t>
            </a:r>
            <a:endParaRPr lang="en-US" sz="1800" dirty="0"/>
          </a:p>
        </p:txBody>
      </p:sp>
      <p:sp>
        <p:nvSpPr>
          <p:cNvPr id="15" name="clay-90-base"/>
          <p:cNvSpPr/>
          <p:nvPr/>
        </p:nvSpPr>
        <p:spPr>
          <a:xfrm>
            <a:off x="8138160" y="1554480"/>
            <a:ext cx="352044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16" name="clay-90-top"/>
          <p:cNvSpPr/>
          <p:nvPr/>
        </p:nvSpPr>
        <p:spPr>
          <a:xfrm>
            <a:off x="8138160" y="1554480"/>
            <a:ext cx="352044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7" name="clay-91-base"/>
          <p:cNvSpPr/>
          <p:nvPr/>
        </p:nvSpPr>
        <p:spPr>
          <a:xfrm>
            <a:off x="8458200" y="196596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18" name="clay-91-top"/>
          <p:cNvSpPr/>
          <p:nvPr/>
        </p:nvSpPr>
        <p:spPr>
          <a:xfrm>
            <a:off x="8458200" y="196596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DDD4F7"/>
          </a:solidFill>
          <a:ln w="6350">
            <a:solidFill>
              <a:srgbClr val="DDD4F7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9" name="Text 17"/>
          <p:cNvSpPr txBox="1"/>
          <p:nvPr/>
        </p:nvSpPr>
        <p:spPr>
          <a:xfrm>
            <a:off x="845820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3467"/>
                </a:solidFill>
              </a:rPr>
              <a:t>RV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0" y="19659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940"/>
                </a:solidFill>
              </a:rPr>
              <a:t>Raj Venkat</a:t>
            </a:r>
            <a:endParaRPr lang="en-US" sz="1800" dirty="0"/>
          </a:p>
        </p:txBody>
      </p:sp>
      <p:sp>
        <p:nvSpPr>
          <p:cNvPr id="21" name="clay-92-base"/>
          <p:cNvSpPr/>
          <p:nvPr/>
        </p:nvSpPr>
        <p:spPr>
          <a:xfrm>
            <a:off x="548640" y="3749040"/>
            <a:ext cx="352044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22" name="clay-92-top"/>
          <p:cNvSpPr/>
          <p:nvPr/>
        </p:nvSpPr>
        <p:spPr>
          <a:xfrm>
            <a:off x="548640" y="3749040"/>
            <a:ext cx="352044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3" name="clay-93-base"/>
          <p:cNvSpPr/>
          <p:nvPr/>
        </p:nvSpPr>
        <p:spPr>
          <a:xfrm>
            <a:off x="868680" y="416052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24" name="clay-93-top"/>
          <p:cNvSpPr/>
          <p:nvPr/>
        </p:nvSpPr>
        <p:spPr>
          <a:xfrm>
            <a:off x="868680" y="416052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4160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3467"/>
                </a:solidFill>
              </a:rPr>
              <a:t>NR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4160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940"/>
                </a:solidFill>
              </a:rPr>
              <a:t>Nikhil S Rao</a:t>
            </a:r>
            <a:endParaRPr lang="en-US" sz="1800" dirty="0"/>
          </a:p>
        </p:txBody>
      </p:sp>
      <p:sp>
        <p:nvSpPr>
          <p:cNvPr id="27" name="clay-94-base"/>
          <p:cNvSpPr/>
          <p:nvPr/>
        </p:nvSpPr>
        <p:spPr>
          <a:xfrm>
            <a:off x="4343400" y="3749040"/>
            <a:ext cx="352044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28" name="clay-94-top"/>
          <p:cNvSpPr/>
          <p:nvPr/>
        </p:nvSpPr>
        <p:spPr>
          <a:xfrm>
            <a:off x="4343400" y="3749040"/>
            <a:ext cx="352044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29" name="clay-95-base"/>
          <p:cNvSpPr/>
          <p:nvPr/>
        </p:nvSpPr>
        <p:spPr>
          <a:xfrm>
            <a:off x="4663440" y="416052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30" name="clay-95-top"/>
          <p:cNvSpPr/>
          <p:nvPr/>
        </p:nvSpPr>
        <p:spPr>
          <a:xfrm>
            <a:off x="4663440" y="416052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31" name="Text 29"/>
          <p:cNvSpPr txBox="1"/>
          <p:nvPr/>
        </p:nvSpPr>
        <p:spPr>
          <a:xfrm>
            <a:off x="4663440" y="4160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3467"/>
                </a:solidFill>
              </a:rPr>
              <a:t>SM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5897880" y="4160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940"/>
                </a:solidFill>
              </a:rPr>
              <a:t>Shashwat Mittal</a:t>
            </a:r>
            <a:endParaRPr lang="en-US" sz="1800" dirty="0"/>
          </a:p>
        </p:txBody>
      </p:sp>
      <p:sp>
        <p:nvSpPr>
          <p:cNvPr id="33" name="clay-96-base"/>
          <p:cNvSpPr/>
          <p:nvPr/>
        </p:nvSpPr>
        <p:spPr>
          <a:xfrm>
            <a:off x="8138160" y="3749040"/>
            <a:ext cx="352044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2700000">
              <a:srgbClr val="A3ACCB">
                <a:alpha val="55000"/>
              </a:srgbClr>
            </a:outerShdw>
          </a:effectLst>
        </p:spPr>
      </p:sp>
      <p:sp>
        <p:nvSpPr>
          <p:cNvPr id="34" name="clay-96-top"/>
          <p:cNvSpPr/>
          <p:nvPr/>
        </p:nvSpPr>
        <p:spPr>
          <a:xfrm>
            <a:off x="8138160" y="3749040"/>
            <a:ext cx="352044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35" name="clay-97-base"/>
          <p:cNvSpPr/>
          <p:nvPr/>
        </p:nvSpPr>
        <p:spPr>
          <a:xfrm>
            <a:off x="8458200" y="416052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outerShdw sx="100000" sy="100000" kx="0" ky="0" algn="bl" rotWithShape="0" blurRad="101600" dist="38100" dir="2700000">
              <a:srgbClr val="A3ACCB">
                <a:alpha val="55000"/>
              </a:srgbClr>
            </a:outerShdw>
          </a:effectLst>
        </p:spPr>
      </p:sp>
      <p:sp>
        <p:nvSpPr>
          <p:cNvPr id="36" name="clay-97-top"/>
          <p:cNvSpPr/>
          <p:nvPr/>
        </p:nvSpPr>
        <p:spPr>
          <a:xfrm>
            <a:off x="8458200" y="416052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37" name="Text 35"/>
          <p:cNvSpPr txBox="1"/>
          <p:nvPr/>
        </p:nvSpPr>
        <p:spPr>
          <a:xfrm>
            <a:off x="8458200" y="4160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3467"/>
                </a:solidFill>
              </a:rPr>
              <a:t>SA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9692640" y="4160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940"/>
                </a:solidFill>
              </a:rPr>
              <a:t>Sasanuru Anirudh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answer, with its evidence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free data, runs on a CPU. Code, archive and receipts: github.com/UnKnownnPasta/satclip</a:t>
            </a:r>
            <a:endParaRPr lang="en-US" sz="2200" dirty="0"/>
          </a:p>
        </p:txBody>
      </p:sp>
      <p:sp>
        <p:nvSpPr>
          <p:cNvPr id="4" name="clay-98-base"/>
          <p:cNvSpPr/>
          <p:nvPr/>
        </p:nvSpPr>
        <p:spPr>
          <a:xfrm>
            <a:off x="731520" y="475488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outerShdw sx="100000" sy="100000" kx="0" ky="0" algn="bl" rotWithShape="0" blurRad="101600" dist="38100" dir="2700000">
              <a:srgbClr val="141A33">
                <a:alpha val="60000"/>
              </a:srgbClr>
            </a:outerShdw>
          </a:effectLst>
        </p:spPr>
      </p:sp>
      <p:sp>
        <p:nvSpPr>
          <p:cNvPr id="5" name="clay-98-top"/>
          <p:cNvSpPr/>
          <p:nvPr/>
        </p:nvSpPr>
        <p:spPr>
          <a:xfrm>
            <a:off x="731520" y="475488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C3EBD2"/>
          </a:solidFill>
          <a:ln w="6350">
            <a:solidFill>
              <a:srgbClr val="C3EBD2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6" name="pill-98"/>
          <p:cNvSpPr txBox="1"/>
          <p:nvPr/>
        </p:nvSpPr>
        <p:spPr>
          <a:xfrm>
            <a:off x="73152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40"/>
                </a:solidFill>
              </a:rPr>
              <a:t>Measured number</a:t>
            </a:r>
            <a:endParaRPr lang="en-US" sz="1400" dirty="0"/>
          </a:p>
        </p:txBody>
      </p:sp>
      <p:sp>
        <p:nvSpPr>
          <p:cNvPr id="7" name="clay-99-base"/>
          <p:cNvSpPr/>
          <p:nvPr/>
        </p:nvSpPr>
        <p:spPr>
          <a:xfrm>
            <a:off x="3886200" y="475488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outerShdw sx="100000" sy="100000" kx="0" ky="0" algn="bl" rotWithShape="0" blurRad="101600" dist="38100" dir="2700000">
              <a:srgbClr val="141A33">
                <a:alpha val="60000"/>
              </a:srgbClr>
            </a:outerShdw>
          </a:effectLst>
        </p:spPr>
      </p:sp>
      <p:sp>
        <p:nvSpPr>
          <p:cNvPr id="8" name="clay-99-top"/>
          <p:cNvSpPr/>
          <p:nvPr/>
        </p:nvSpPr>
        <p:spPr>
          <a:xfrm>
            <a:off x="3886200" y="475488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BFD8F5"/>
          </a:solidFill>
          <a:ln w="6350">
            <a:solidFill>
              <a:srgbClr val="BFD8F5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9" name="pill-99"/>
          <p:cNvSpPr txBox="1"/>
          <p:nvPr/>
        </p:nvSpPr>
        <p:spPr>
          <a:xfrm>
            <a:off x="388620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40"/>
                </a:solidFill>
              </a:rPr>
              <a:t>Scenes, dates, map</a:t>
            </a:r>
            <a:endParaRPr lang="en-US" sz="1400" dirty="0"/>
          </a:p>
        </p:txBody>
      </p:sp>
      <p:sp>
        <p:nvSpPr>
          <p:cNvPr id="10" name="clay-100-base"/>
          <p:cNvSpPr/>
          <p:nvPr/>
        </p:nvSpPr>
        <p:spPr>
          <a:xfrm>
            <a:off x="7040880" y="475488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A33">
                <a:alpha val="60000"/>
              </a:srgbClr>
            </a:outerShdw>
          </a:effectLst>
        </p:spPr>
      </p:sp>
      <p:sp>
        <p:nvSpPr>
          <p:cNvPr id="11" name="clay-100-top"/>
          <p:cNvSpPr/>
          <p:nvPr/>
        </p:nvSpPr>
        <p:spPr>
          <a:xfrm>
            <a:off x="7040880" y="475488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FFDCC4"/>
          </a:solidFill>
          <a:ln w="6350">
            <a:solidFill>
              <a:srgbClr val="FFDCC4"/>
            </a:solidFill>
            <a:prstDash val="solid"/>
          </a:ln>
          <a:effectLst>
            <a:innerShdw blurRad="127000" dist="50800" dir="13500000">
              <a:srgbClr val="FFFFFF">
                <a:alpha val="85000"/>
              </a:srgbClr>
            </a:innerShdw>
          </a:effectLst>
        </p:spPr>
      </p:sp>
      <p:sp>
        <p:nvSpPr>
          <p:cNvPr id="12" name="pill-100"/>
          <p:cNvSpPr txBox="1"/>
          <p:nvPr/>
        </p:nvSpPr>
        <p:spPr>
          <a:xfrm>
            <a:off x="704088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40"/>
                </a:solidFill>
              </a:rPr>
              <a:t>Confidence or abstain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tClip Clay">
  <a:themeElements>
    <a:clrScheme name="SatClip Clay">
      <a:dk1>
        <a:srgbClr val="1F2940"/>
      </a:dk1>
      <a:lt1>
        <a:srgbClr val="FFFFFF"/>
      </a:lt1>
      <a:dk2>
        <a:srgbClr val="2B3467"/>
      </a:dk2>
      <a:lt2>
        <a:srgbClr val="EDF0F8"/>
      </a:lt2>
      <a:accent1>
        <a:srgbClr val="2F6FB3"/>
      </a:accent1>
      <a:accent2>
        <a:srgbClr val="BFD8F5"/>
      </a:accent2>
      <a:accent3>
        <a:srgbClr val="C3EBD2"/>
      </a:accent3>
      <a:accent4>
        <a:srgbClr val="FFDCC4"/>
      </a:accent4>
      <a:accent5>
        <a:srgbClr val="DDD4F7"/>
      </a:accent5>
      <a:accent6>
        <a:srgbClr val="1E6B45"/>
      </a:accent6>
      <a:hlink>
        <a:srgbClr val="2F6FB3"/>
      </a:hlink>
      <a:folHlink>
        <a:srgbClr val="5B4B9A"/>
      </a:folHlink>
    </a:clrScheme>
    <a:fontScheme name="SatClip Cla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SatClip: evidence, not guesses</dc:title>
  <dc:subject>SIH26167 SatQueryAI</dc:subject>
  <dc:creator>Team Stardust</dc:creator>
  <cp:lastModifiedBy>Team Stardust</cp:lastModifiedBy>
  <cp:revision>1</cp:revision>
  <dcterms:created xsi:type="dcterms:W3CDTF">2026-10-09T09:25:20Z</dcterms:created>
  <dcterms:modified xsi:type="dcterms:W3CDTF">2026-10-09T09:25:20Z</dcterms:modified>
</cp:coreProperties>
</file>